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 id="214748367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Inter"/>
      <p:regular r:id="rId17"/>
      <p:bold r:id="rId18"/>
      <p:italic r:id="rId19"/>
      <p:boldItalic r:id="rId20"/>
    </p:embeddedFont>
    <p:embeddedFont>
      <p:font typeface="Inter ExtraBold"/>
      <p:bold r:id="rId21"/>
      <p:boldItalic r:id="rId22"/>
    </p:embeddedFont>
    <p:embeddedFont>
      <p:font typeface="Inter Medium"/>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46A0A2C-4418-4E54-B235-0710FBA08BBA}">
  <a:tblStyle styleId="{246A0A2C-4418-4E54-B235-0710FBA08BB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Inter-boldItalic.fntdata"/><Relationship Id="rId22" Type="http://schemas.openxmlformats.org/officeDocument/2006/relationships/font" Target="fonts/InterExtraBold-boldItalic.fntdata"/><Relationship Id="rId21" Type="http://schemas.openxmlformats.org/officeDocument/2006/relationships/font" Target="fonts/InterExtraBold-bold.fntdata"/><Relationship Id="rId24" Type="http://schemas.openxmlformats.org/officeDocument/2006/relationships/font" Target="fonts/InterMedium-bold.fntdata"/><Relationship Id="rId23" Type="http://schemas.openxmlformats.org/officeDocument/2006/relationships/font" Target="fonts/InterMedium-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InterMedium-boldItalic.fntdata"/><Relationship Id="rId25" Type="http://schemas.openxmlformats.org/officeDocument/2006/relationships/font" Target="fonts/InterMedium-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Inter-regular.fntdata"/><Relationship Id="rId16" Type="http://schemas.openxmlformats.org/officeDocument/2006/relationships/slide" Target="slides/slide10.xml"/><Relationship Id="rId19" Type="http://schemas.openxmlformats.org/officeDocument/2006/relationships/font" Target="fonts/Inter-italic.fntdata"/><Relationship Id="rId18" Type="http://schemas.openxmlformats.org/officeDocument/2006/relationships/font" Target="fonts/Inter-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6e7cf68d7d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6e7cf68d7d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6e7cf68d7d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6e7cf68d7d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6e7cf68d7d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6e7cf68d7d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6f7e49369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6f7e49369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6f7e493691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6f7e49369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6e7cf68d7d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6e7cf68d7d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70b17cb54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70b17cb54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70b17cb54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70b17cb54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6e7cf68d7d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6e7cf68d7d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6e7cf68d7d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6e7cf68d7d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52" name="Shape 52"/>
        <p:cNvGrpSpPr/>
        <p:nvPr/>
      </p:nvGrpSpPr>
      <p:grpSpPr>
        <a:xfrm>
          <a:off x="0" y="0"/>
          <a:ext cx="0" cy="0"/>
          <a:chOff x="0" y="0"/>
          <a:chExt cx="0" cy="0"/>
        </a:xfrm>
      </p:grpSpPr>
      <p:sp>
        <p:nvSpPr>
          <p:cNvPr id="53" name="Google Shape;5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4 people)" type="secHead">
  <p:cSld name="SECTION_HEADER">
    <p:spTree>
      <p:nvGrpSpPr>
        <p:cNvPr id="58" name="Shape 58"/>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 name="Shape 59"/>
        <p:cNvGrpSpPr/>
        <p:nvPr/>
      </p:nvGrpSpPr>
      <p:grpSpPr>
        <a:xfrm>
          <a:off x="0" y="0"/>
          <a:ext cx="0" cy="0"/>
          <a:chOff x="0" y="0"/>
          <a:chExt cx="0" cy="0"/>
        </a:xfrm>
      </p:grpSpPr>
      <p:sp>
        <p:nvSpPr>
          <p:cNvPr id="60" name="Google Shape;6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1" name="Shape 61"/>
        <p:cNvGrpSpPr/>
        <p:nvPr/>
      </p:nvGrpSpPr>
      <p:grpSpPr>
        <a:xfrm>
          <a:off x="0" y="0"/>
          <a:ext cx="0" cy="0"/>
          <a:chOff x="0" y="0"/>
          <a:chExt cx="0" cy="0"/>
        </a:xfrm>
      </p:grpSpPr>
      <p:sp>
        <p:nvSpPr>
          <p:cNvPr id="62" name="Google Shape;6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sp>
        <p:nvSpPr>
          <p:cNvPr id="66" name="Google Shape;6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7" name="Shape 67"/>
        <p:cNvGrpSpPr/>
        <p:nvPr/>
      </p:nvGrpSpPr>
      <p:grpSpPr>
        <a:xfrm>
          <a:off x="0" y="0"/>
          <a:ext cx="0" cy="0"/>
          <a:chOff x="0" y="0"/>
          <a:chExt cx="0" cy="0"/>
        </a:xfrm>
      </p:grpSpPr>
      <p:sp>
        <p:nvSpPr>
          <p:cNvPr id="68" name="Google Shape;6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9" name="Shape 69"/>
        <p:cNvGrpSpPr/>
        <p:nvPr/>
      </p:nvGrpSpPr>
      <p:grpSpPr>
        <a:xfrm>
          <a:off x="0" y="0"/>
          <a:ext cx="0" cy="0"/>
          <a:chOff x="0" y="0"/>
          <a:chExt cx="0" cy="0"/>
        </a:xfrm>
      </p:grpSpPr>
      <p:sp>
        <p:nvSpPr>
          <p:cNvPr id="70" name="Google Shape;7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1" name="Shape 71"/>
        <p:cNvGrpSpPr/>
        <p:nvPr/>
      </p:nvGrpSpPr>
      <p:grpSpPr>
        <a:xfrm>
          <a:off x="0" y="0"/>
          <a:ext cx="0" cy="0"/>
          <a:chOff x="0" y="0"/>
          <a:chExt cx="0" cy="0"/>
        </a:xfrm>
      </p:grpSpPr>
      <p:sp>
        <p:nvSpPr>
          <p:cNvPr id="72" name="Google Shape;7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3" name="Shape 73"/>
        <p:cNvGrpSpPr/>
        <p:nvPr/>
      </p:nvGrpSpPr>
      <p:grpSpPr>
        <a:xfrm>
          <a:off x="0" y="0"/>
          <a:ext cx="0" cy="0"/>
          <a:chOff x="0" y="0"/>
          <a:chExt cx="0" cy="0"/>
        </a:xfrm>
      </p:grpSpPr>
      <p:sp>
        <p:nvSpPr>
          <p:cNvPr id="74" name="Google Shape;74;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7" name="Shape 7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3.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2F1EE"/>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4" name="Shape 54"/>
        <p:cNvGrpSpPr/>
        <p:nvPr/>
      </p:nvGrpSpPr>
      <p:grpSpPr>
        <a:xfrm>
          <a:off x="0" y="0"/>
          <a:ext cx="0" cy="0"/>
          <a:chOff x="0" y="0"/>
          <a:chExt cx="0" cy="0"/>
        </a:xfrm>
      </p:grpSpPr>
      <p:sp>
        <p:nvSpPr>
          <p:cNvPr id="55" name="Google Shape;55;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8F60"/>
        </a:solidFill>
      </p:bgPr>
    </p:bg>
    <p:spTree>
      <p:nvGrpSpPr>
        <p:cNvPr id="81" name="Shape 81"/>
        <p:cNvGrpSpPr/>
        <p:nvPr/>
      </p:nvGrpSpPr>
      <p:grpSpPr>
        <a:xfrm>
          <a:off x="0" y="0"/>
          <a:ext cx="0" cy="0"/>
          <a:chOff x="0" y="0"/>
          <a:chExt cx="0" cy="0"/>
        </a:xfrm>
      </p:grpSpPr>
      <p:sp>
        <p:nvSpPr>
          <p:cNvPr id="82" name="Google Shape;82;p28"/>
          <p:cNvSpPr txBox="1"/>
          <p:nvPr>
            <p:ph idx="4294967295" type="ctrTitle"/>
          </p:nvPr>
        </p:nvSpPr>
        <p:spPr>
          <a:xfrm>
            <a:off x="64008" y="638300"/>
            <a:ext cx="8520600" cy="2135400"/>
          </a:xfrm>
          <a:prstGeom prst="rect">
            <a:avLst/>
          </a:prstGeom>
        </p:spPr>
        <p:txBody>
          <a:bodyPr anchorCtr="0" anchor="t" bIns="91425" lIns="91425" spcFirstLastPara="1" rIns="91425" wrap="square" tIns="0">
            <a:spAutoFit/>
          </a:bodyPr>
          <a:lstStyle/>
          <a:p>
            <a:pPr indent="0" lvl="0" marL="0" rtl="0" algn="l">
              <a:lnSpc>
                <a:spcPct val="90000"/>
              </a:lnSpc>
              <a:spcBef>
                <a:spcPts val="0"/>
              </a:spcBef>
              <a:spcAft>
                <a:spcPts val="0"/>
              </a:spcAft>
              <a:buNone/>
            </a:pPr>
            <a:r>
              <a:rPr lang="en" sz="5800">
                <a:solidFill>
                  <a:srgbClr val="1A1A1A"/>
                </a:solidFill>
                <a:latin typeface="Inter ExtraBold"/>
                <a:ea typeface="Inter ExtraBold"/>
                <a:cs typeface="Inter ExtraBold"/>
                <a:sym typeface="Inter ExtraBold"/>
              </a:rPr>
              <a:t>AI-Powered Customer Support Workflow</a:t>
            </a:r>
            <a:endParaRPr sz="5800">
              <a:solidFill>
                <a:srgbClr val="1A1A1A"/>
              </a:solidFill>
              <a:latin typeface="Inter ExtraBold"/>
              <a:ea typeface="Inter ExtraBold"/>
              <a:cs typeface="Inter ExtraBold"/>
              <a:sym typeface="Inter ExtraBold"/>
            </a:endParaRPr>
          </a:p>
          <a:p>
            <a:pPr indent="0" lvl="0" marL="0" rtl="0" algn="l">
              <a:spcBef>
                <a:spcPts val="1000"/>
              </a:spcBef>
              <a:spcAft>
                <a:spcPts val="0"/>
              </a:spcAft>
              <a:buClr>
                <a:schemeClr val="dk1"/>
              </a:buClr>
              <a:buSzPts val="1100"/>
              <a:buFont typeface="Arial"/>
              <a:buNone/>
            </a:pPr>
            <a:r>
              <a:rPr lang="en" sz="2000">
                <a:solidFill>
                  <a:srgbClr val="1A1A1A"/>
                </a:solidFill>
                <a:latin typeface="Inter"/>
                <a:ea typeface="Inter"/>
                <a:cs typeface="Inter"/>
                <a:sym typeface="Inter"/>
              </a:rPr>
              <a:t>Annette Partida</a:t>
            </a:r>
            <a:endParaRPr sz="6000">
              <a:solidFill>
                <a:srgbClr val="1A1A1A"/>
              </a:solidFill>
              <a:latin typeface="Inter ExtraBold"/>
              <a:ea typeface="Inter ExtraBold"/>
              <a:cs typeface="Inter ExtraBold"/>
              <a:sym typeface="Inter ExtraBold"/>
            </a:endParaRPr>
          </a:p>
        </p:txBody>
      </p:sp>
      <p:pic>
        <p:nvPicPr>
          <p:cNvPr id="83" name="Google Shape;83;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84" name="Google Shape;84;p28"/>
          <p:cNvSpPr txBox="1"/>
          <p:nvPr>
            <p:ph idx="4294967295" type="subTitle"/>
          </p:nvPr>
        </p:nvSpPr>
        <p:spPr>
          <a:xfrm>
            <a:off x="152400" y="4600950"/>
            <a:ext cx="8686800" cy="369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200">
                <a:solidFill>
                  <a:srgbClr val="2A2A2A"/>
                </a:solidFill>
                <a:latin typeface="Inter Medium"/>
                <a:ea typeface="Inter Medium"/>
                <a:cs typeface="Inter Medium"/>
                <a:sym typeface="Inter Medium"/>
              </a:rPr>
              <a:t>AI Automation </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88" name="Shape 88"/>
        <p:cNvGrpSpPr/>
        <p:nvPr/>
      </p:nvGrpSpPr>
      <p:grpSpPr>
        <a:xfrm>
          <a:off x="0" y="0"/>
          <a:ext cx="0" cy="0"/>
          <a:chOff x="0" y="0"/>
          <a:chExt cx="0" cy="0"/>
        </a:xfrm>
      </p:grpSpPr>
      <p:sp>
        <p:nvSpPr>
          <p:cNvPr id="89" name="Google Shape;89;p29"/>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Introduction</a:t>
            </a:r>
            <a:endParaRPr sz="4000">
              <a:solidFill>
                <a:srgbClr val="1A1A1A"/>
              </a:solidFill>
              <a:latin typeface="Inter ExtraBold"/>
              <a:ea typeface="Inter ExtraBold"/>
              <a:cs typeface="Inter ExtraBold"/>
              <a:sym typeface="Inter ExtraBold"/>
            </a:endParaRPr>
          </a:p>
        </p:txBody>
      </p:sp>
      <p:sp>
        <p:nvSpPr>
          <p:cNvPr id="90" name="Google Shape;90;p29"/>
          <p:cNvSpPr txBox="1"/>
          <p:nvPr>
            <p:ph idx="1" type="subTitle"/>
          </p:nvPr>
        </p:nvSpPr>
        <p:spPr>
          <a:xfrm>
            <a:off x="139800" y="2298300"/>
            <a:ext cx="8520600" cy="26166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Overview of the Customer Support Process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Customer support is the front line of communication between a company and its customers. It typically begins when a customer reaches out with a question, concern, or issue through channels like email, phone, web forms, or social media.</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From there, a customer service representative (CSR) logs the inquiry into a system, the request is reviewed and assigned, and the CSR works to investigate and resolve the issue. If the problem is complex or unresolved, it’s escalated to higher-level support. Afterward, customers are invited to provide feedback on their experience.</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Project Goal</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The goal of this project is to </a:t>
            </a:r>
            <a:r>
              <a:rPr b="1" lang="en" sz="1100">
                <a:solidFill>
                  <a:schemeClr val="dk1"/>
                </a:solidFill>
              </a:rPr>
              <a:t>enhance the customer support workflow by integrating AI tools</a:t>
            </a:r>
            <a:r>
              <a:rPr lang="en" sz="1100">
                <a:solidFill>
                  <a:schemeClr val="dk1"/>
                </a:solidFill>
              </a:rPr>
              <a:t>. By streamlining repetitive tasks, speeding up response times, and providing smarter support, we aim to improve both </a:t>
            </a:r>
            <a:r>
              <a:rPr b="1" lang="en" sz="1100">
                <a:solidFill>
                  <a:schemeClr val="dk1"/>
                </a:solidFill>
              </a:rPr>
              <a:t>operational efficiency</a:t>
            </a:r>
            <a:r>
              <a:rPr lang="en" sz="1100">
                <a:solidFill>
                  <a:schemeClr val="dk1"/>
                </a:solidFill>
              </a:rPr>
              <a:t> and </a:t>
            </a:r>
            <a:r>
              <a:rPr b="1" lang="en" sz="1100">
                <a:solidFill>
                  <a:schemeClr val="dk1"/>
                </a:solidFill>
              </a:rPr>
              <a:t>customer satisfaction</a:t>
            </a:r>
            <a:r>
              <a:rPr lang="en" sz="1100">
                <a:solidFill>
                  <a:schemeClr val="dk1"/>
                </a:solidFill>
              </a:rPr>
              <a:t>.</a:t>
            </a:r>
            <a:endParaRPr sz="1100">
              <a:solidFill>
                <a:schemeClr val="dk1"/>
              </a:solidFill>
            </a:endParaRPr>
          </a:p>
          <a:p>
            <a:pPr indent="0" lvl="0" marL="457200" rtl="0" algn="l">
              <a:lnSpc>
                <a:spcPct val="115000"/>
              </a:lnSpc>
              <a:spcBef>
                <a:spcPts val="1200"/>
              </a:spcBef>
              <a:spcAft>
                <a:spcPts val="1200"/>
              </a:spcAft>
              <a:buNone/>
            </a:pPr>
            <a:r>
              <a:t/>
            </a:r>
            <a:endParaRPr sz="2000">
              <a:solidFill>
                <a:srgbClr val="1A1A1A"/>
              </a:solidFill>
              <a:latin typeface="Inter"/>
              <a:ea typeface="Inter"/>
              <a:cs typeface="Inter"/>
              <a:sym typeface="Inter"/>
            </a:endParaRPr>
          </a:p>
        </p:txBody>
      </p:sp>
      <p:sp>
        <p:nvSpPr>
          <p:cNvPr id="91" name="Google Shape;91;p29"/>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5" name="Shape 95"/>
        <p:cNvGrpSpPr/>
        <p:nvPr/>
      </p:nvGrpSpPr>
      <p:grpSpPr>
        <a:xfrm>
          <a:off x="0" y="0"/>
          <a:ext cx="0" cy="0"/>
          <a:chOff x="0" y="0"/>
          <a:chExt cx="0" cy="0"/>
        </a:xfrm>
      </p:grpSpPr>
      <p:sp>
        <p:nvSpPr>
          <p:cNvPr id="96" name="Google Shape;96;p30"/>
          <p:cNvSpPr txBox="1"/>
          <p:nvPr>
            <p:ph type="ctrTitle"/>
          </p:nvPr>
        </p:nvSpPr>
        <p:spPr>
          <a:xfrm>
            <a:off x="165125" y="21172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Current Workflow Overview</a:t>
            </a:r>
            <a:endParaRPr sz="4000">
              <a:solidFill>
                <a:srgbClr val="1A1A1A"/>
              </a:solidFill>
              <a:latin typeface="Inter ExtraBold"/>
              <a:ea typeface="Inter ExtraBold"/>
              <a:cs typeface="Inter ExtraBold"/>
              <a:sym typeface="Inter ExtraBold"/>
            </a:endParaRPr>
          </a:p>
        </p:txBody>
      </p:sp>
      <p:sp>
        <p:nvSpPr>
          <p:cNvPr id="97" name="Google Shape;97;p30"/>
          <p:cNvSpPr txBox="1"/>
          <p:nvPr/>
        </p:nvSpPr>
        <p:spPr>
          <a:xfrm>
            <a:off x="4290300" y="1403325"/>
            <a:ext cx="3744900" cy="322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n" sz="1100">
                <a:solidFill>
                  <a:schemeClr val="dk1"/>
                </a:solidFill>
              </a:rPr>
              <a:t>This is the current workflow overview in chart form:</a:t>
            </a:r>
            <a:endParaRPr b="1" i="1"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arenBoth"/>
            </a:pPr>
            <a:r>
              <a:rPr lang="en" sz="1100">
                <a:solidFill>
                  <a:schemeClr val="dk1"/>
                </a:solidFill>
              </a:rPr>
              <a:t>Customers contact support via email, phone, web, or social media </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arenBoth"/>
            </a:pPr>
            <a:r>
              <a:rPr lang="en" sz="1100">
                <a:solidFill>
                  <a:schemeClr val="dk1"/>
                </a:solidFill>
              </a:rPr>
              <a:t>Rep manually logs the issue </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arenBoth"/>
            </a:pPr>
            <a:r>
              <a:rPr lang="en" sz="1100">
                <a:solidFill>
                  <a:schemeClr val="dk1"/>
                </a:solidFill>
              </a:rPr>
              <a:t>Supervisor assigns it </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arenBoth"/>
            </a:pPr>
            <a:r>
              <a:rPr lang="en" sz="1100">
                <a:solidFill>
                  <a:schemeClr val="dk1"/>
                </a:solidFill>
              </a:rPr>
              <a:t>Rep notifies client/customer that issue is being resolved</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arenBoth"/>
            </a:pPr>
            <a:r>
              <a:rPr lang="en" sz="1100">
                <a:solidFill>
                  <a:schemeClr val="dk1"/>
                </a:solidFill>
              </a:rPr>
              <a:t>Rep works to resolve it </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arenBoth"/>
            </a:pPr>
            <a:r>
              <a:rPr lang="en" sz="1100">
                <a:solidFill>
                  <a:schemeClr val="dk1"/>
                </a:solidFill>
              </a:rPr>
              <a:t>Issue may move on to special support, if not </a:t>
            </a:r>
            <a:r>
              <a:rPr lang="en" sz="1100">
                <a:solidFill>
                  <a:schemeClr val="dk1"/>
                </a:solidFill>
              </a:rPr>
              <a:t>resolved</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arenBoth"/>
            </a:pPr>
            <a:r>
              <a:rPr lang="en" sz="1100">
                <a:solidFill>
                  <a:schemeClr val="dk1"/>
                </a:solidFill>
              </a:rPr>
              <a:t>After resolution, a survey is sent.</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None/>
            </a:pPr>
            <a:r>
              <a:rPr b="1" lang="en" sz="1100">
                <a:solidFill>
                  <a:schemeClr val="dk1"/>
                </a:solidFill>
              </a:rPr>
              <a:t>A potential for human error</a:t>
            </a:r>
            <a:r>
              <a:rPr lang="en" sz="1100">
                <a:solidFill>
                  <a:schemeClr val="dk1"/>
                </a:solidFill>
              </a:rPr>
              <a:t> exists in manual logging, ticket assignment, and communication, which can lead to delays or inconsistent service. </a:t>
            </a:r>
            <a:endParaRPr sz="1800">
              <a:solidFill>
                <a:schemeClr val="dk1"/>
              </a:solidFill>
              <a:highlight>
                <a:schemeClr val="lt2"/>
              </a:highlight>
            </a:endParaRPr>
          </a:p>
        </p:txBody>
      </p:sp>
      <p:pic>
        <p:nvPicPr>
          <p:cNvPr id="98" name="Google Shape;98;p30"/>
          <p:cNvPicPr preferRelativeResize="0"/>
          <p:nvPr/>
        </p:nvPicPr>
        <p:blipFill>
          <a:blip r:embed="rId3">
            <a:alphaModFix/>
          </a:blip>
          <a:stretch>
            <a:fillRect/>
          </a:stretch>
        </p:blipFill>
        <p:spPr>
          <a:xfrm>
            <a:off x="1747975" y="1460450"/>
            <a:ext cx="1447324" cy="3110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1"/>
          <p:cNvSpPr/>
          <p:nvPr/>
        </p:nvSpPr>
        <p:spPr>
          <a:xfrm>
            <a:off x="0" y="0"/>
            <a:ext cx="9144000" cy="5143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104" name="Google Shape;104;p31"/>
          <p:cNvGraphicFramePr/>
          <p:nvPr/>
        </p:nvGraphicFramePr>
        <p:xfrm>
          <a:off x="762925" y="1328150"/>
          <a:ext cx="3000000" cy="3000000"/>
        </p:xfrm>
        <a:graphic>
          <a:graphicData uri="http://schemas.openxmlformats.org/drawingml/2006/table">
            <a:tbl>
              <a:tblPr>
                <a:noFill/>
                <a:tableStyleId>{246A0A2C-4418-4E54-B235-0710FBA08BBA}</a:tableStyleId>
              </a:tblPr>
              <a:tblGrid>
                <a:gridCol w="1673125"/>
                <a:gridCol w="2678825"/>
                <a:gridCol w="2185125"/>
                <a:gridCol w="1081050"/>
              </a:tblGrid>
              <a:tr h="408400">
                <a:tc>
                  <a:txBody>
                    <a:bodyPr/>
                    <a:lstStyle/>
                    <a:p>
                      <a:pPr indent="0" lvl="0" marL="0" rtl="0" algn="l">
                        <a:lnSpc>
                          <a:spcPct val="115000"/>
                        </a:lnSpc>
                        <a:spcBef>
                          <a:spcPts val="0"/>
                        </a:spcBef>
                        <a:spcAft>
                          <a:spcPts val="0"/>
                        </a:spcAft>
                        <a:buNone/>
                      </a:pPr>
                      <a:r>
                        <a:rPr b="1" lang="en" sz="1000"/>
                        <a:t>Workflow Step</a:t>
                      </a:r>
                      <a:endParaRPr b="1" sz="1000"/>
                    </a:p>
                  </a:txBody>
                  <a:tcPr marT="91425" marB="91425" marR="91425" marL="91425">
                    <a:solidFill>
                      <a:srgbClr val="FFD966"/>
                    </a:solidFill>
                  </a:tcPr>
                </a:tc>
                <a:tc>
                  <a:txBody>
                    <a:bodyPr/>
                    <a:lstStyle/>
                    <a:p>
                      <a:pPr indent="0" lvl="0" marL="0" rtl="0" algn="l">
                        <a:lnSpc>
                          <a:spcPct val="115000"/>
                        </a:lnSpc>
                        <a:spcBef>
                          <a:spcPts val="0"/>
                        </a:spcBef>
                        <a:spcAft>
                          <a:spcPts val="0"/>
                        </a:spcAft>
                        <a:buNone/>
                      </a:pPr>
                      <a:r>
                        <a:rPr b="1" lang="en" sz="1000"/>
                        <a:t>Key Problem Identified</a:t>
                      </a:r>
                      <a:endParaRPr b="1" sz="1000"/>
                    </a:p>
                  </a:txBody>
                  <a:tcPr marT="91425" marB="91425" marR="91425" marL="91425">
                    <a:solidFill>
                      <a:srgbClr val="FFD966"/>
                    </a:solidFill>
                  </a:tcPr>
                </a:tc>
                <a:tc>
                  <a:txBody>
                    <a:bodyPr/>
                    <a:lstStyle/>
                    <a:p>
                      <a:pPr indent="0" lvl="0" marL="0" rtl="0" algn="l">
                        <a:lnSpc>
                          <a:spcPct val="115000"/>
                        </a:lnSpc>
                        <a:spcBef>
                          <a:spcPts val="0"/>
                        </a:spcBef>
                        <a:spcAft>
                          <a:spcPts val="0"/>
                        </a:spcAft>
                        <a:buNone/>
                      </a:pPr>
                      <a:r>
                        <a:rPr b="1" lang="en" sz="1000"/>
                        <a:t>Related Complaint Theme</a:t>
                      </a:r>
                      <a:endParaRPr b="1" sz="1000"/>
                    </a:p>
                  </a:txBody>
                  <a:tcPr marT="91425" marB="91425" marR="91425" marL="91425">
                    <a:solidFill>
                      <a:srgbClr val="FFD966"/>
                    </a:solidFill>
                  </a:tcPr>
                </a:tc>
                <a:tc>
                  <a:txBody>
                    <a:bodyPr/>
                    <a:lstStyle/>
                    <a:p>
                      <a:pPr indent="0" lvl="0" marL="0" rtl="0" algn="l">
                        <a:lnSpc>
                          <a:spcPct val="115000"/>
                        </a:lnSpc>
                        <a:spcBef>
                          <a:spcPts val="0"/>
                        </a:spcBef>
                        <a:spcAft>
                          <a:spcPts val="0"/>
                        </a:spcAft>
                        <a:buNone/>
                      </a:pPr>
                      <a:r>
                        <a:rPr b="1" lang="en" sz="1000"/>
                        <a:t>% of Complaints</a:t>
                      </a:r>
                      <a:endParaRPr b="1" sz="1000"/>
                    </a:p>
                  </a:txBody>
                  <a:tcPr marT="91425" marB="91425" marR="91425" marL="91425">
                    <a:solidFill>
                      <a:srgbClr val="FFD966"/>
                    </a:solidFill>
                  </a:tcPr>
                </a:tc>
              </a:tr>
              <a:tr h="491175">
                <a:tc>
                  <a:txBody>
                    <a:bodyPr/>
                    <a:lstStyle/>
                    <a:p>
                      <a:pPr indent="0" lvl="0" marL="0" rtl="0" algn="l">
                        <a:lnSpc>
                          <a:spcPct val="100000"/>
                        </a:lnSpc>
                        <a:spcBef>
                          <a:spcPts val="0"/>
                        </a:spcBef>
                        <a:spcAft>
                          <a:spcPts val="0"/>
                        </a:spcAft>
                        <a:buNone/>
                      </a:pPr>
                      <a:r>
                        <a:rPr b="1" lang="en" sz="900">
                          <a:solidFill>
                            <a:schemeClr val="dk1"/>
                          </a:solidFill>
                        </a:rPr>
                        <a:t>Step 2 – Ticket Logging</a:t>
                      </a:r>
                      <a:endParaRPr b="1" sz="900">
                        <a:solidFill>
                          <a:schemeClr val="dk1"/>
                        </a:solidFill>
                      </a:endParaRPr>
                    </a:p>
                  </a:txBody>
                  <a:tcPr marT="91425" marB="91425" marR="91425" marL="91425">
                    <a:solidFill>
                      <a:schemeClr val="lt1"/>
                    </a:solidFill>
                  </a:tcPr>
                </a:tc>
                <a:tc>
                  <a:txBody>
                    <a:bodyPr/>
                    <a:lstStyle/>
                    <a:p>
                      <a:pPr indent="0" lvl="0" marL="0" rtl="0" algn="l">
                        <a:lnSpc>
                          <a:spcPct val="100000"/>
                        </a:lnSpc>
                        <a:spcBef>
                          <a:spcPts val="0"/>
                        </a:spcBef>
                        <a:spcAft>
                          <a:spcPts val="0"/>
                        </a:spcAft>
                        <a:buNone/>
                      </a:pPr>
                      <a:r>
                        <a:rPr lang="en" sz="1000">
                          <a:solidFill>
                            <a:schemeClr val="dk1"/>
                          </a:solidFill>
                        </a:rPr>
                        <a:t>Incomplete or inconsistent entries in CRM</a:t>
                      </a:r>
                      <a:endParaRPr sz="1000">
                        <a:solidFill>
                          <a:schemeClr val="dk1"/>
                        </a:solidFill>
                      </a:endParaRPr>
                    </a:p>
                  </a:txBody>
                  <a:tcPr marT="91425" marB="91425" marR="91425" marL="91425">
                    <a:solidFill>
                      <a:schemeClr val="lt1"/>
                    </a:solidFill>
                  </a:tcPr>
                </a:tc>
                <a:tc>
                  <a:txBody>
                    <a:bodyPr/>
                    <a:lstStyle/>
                    <a:p>
                      <a:pPr indent="0" lvl="0" marL="0" rtl="0" algn="l">
                        <a:lnSpc>
                          <a:spcPct val="100000"/>
                        </a:lnSpc>
                        <a:spcBef>
                          <a:spcPts val="0"/>
                        </a:spcBef>
                        <a:spcAft>
                          <a:spcPts val="0"/>
                        </a:spcAft>
                        <a:buNone/>
                      </a:pPr>
                      <a:r>
                        <a:rPr lang="en" sz="1000">
                          <a:solidFill>
                            <a:schemeClr val="dk1"/>
                          </a:solidFill>
                        </a:rPr>
                        <a:t>Repetition &amp; Misrouting</a:t>
                      </a:r>
                      <a:endParaRPr sz="1000">
                        <a:solidFill>
                          <a:schemeClr val="dk1"/>
                        </a:solidFill>
                      </a:endParaRPr>
                    </a:p>
                  </a:txBody>
                  <a:tcPr marT="91425" marB="91425" marR="91425" marL="91425">
                    <a:solidFill>
                      <a:schemeClr val="lt1"/>
                    </a:solidFill>
                  </a:tcPr>
                </a:tc>
                <a:tc>
                  <a:txBody>
                    <a:bodyPr/>
                    <a:lstStyle/>
                    <a:p>
                      <a:pPr indent="0" lvl="0" marL="0" rtl="0" algn="l">
                        <a:lnSpc>
                          <a:spcPct val="100000"/>
                        </a:lnSpc>
                        <a:spcBef>
                          <a:spcPts val="0"/>
                        </a:spcBef>
                        <a:spcAft>
                          <a:spcPts val="0"/>
                        </a:spcAft>
                        <a:buNone/>
                      </a:pPr>
                      <a:r>
                        <a:rPr lang="en" sz="1000">
                          <a:solidFill>
                            <a:schemeClr val="dk1"/>
                          </a:solidFill>
                        </a:rPr>
                        <a:t>18%</a:t>
                      </a:r>
                      <a:endParaRPr sz="1000">
                        <a:solidFill>
                          <a:schemeClr val="dk1"/>
                        </a:solidFill>
                      </a:endParaRPr>
                    </a:p>
                  </a:txBody>
                  <a:tcPr marT="91425" marB="91425" marR="91425" marL="91425">
                    <a:solidFill>
                      <a:schemeClr val="lt1"/>
                    </a:solidFill>
                  </a:tcPr>
                </a:tc>
              </a:tr>
              <a:tr h="484100">
                <a:tc>
                  <a:txBody>
                    <a:bodyPr/>
                    <a:lstStyle/>
                    <a:p>
                      <a:pPr indent="0" lvl="0" marL="0" rtl="0" algn="l">
                        <a:lnSpc>
                          <a:spcPct val="100000"/>
                        </a:lnSpc>
                        <a:spcBef>
                          <a:spcPts val="0"/>
                        </a:spcBef>
                        <a:spcAft>
                          <a:spcPts val="0"/>
                        </a:spcAft>
                        <a:buNone/>
                      </a:pPr>
                      <a:r>
                        <a:rPr b="1" lang="en" sz="900">
                          <a:solidFill>
                            <a:schemeClr val="dk1"/>
                          </a:solidFill>
                        </a:rPr>
                        <a:t>Step 3 – Ticket Assignment</a:t>
                      </a:r>
                      <a:endParaRPr b="1" sz="900">
                        <a:solidFill>
                          <a:schemeClr val="dk1"/>
                        </a:solidFill>
                      </a:endParaRPr>
                    </a:p>
                  </a:txBody>
                  <a:tcPr marT="91425" marB="91425" marR="91425" marL="91425">
                    <a:solidFill>
                      <a:schemeClr val="lt1"/>
                    </a:solidFill>
                  </a:tcPr>
                </a:tc>
                <a:tc>
                  <a:txBody>
                    <a:bodyPr/>
                    <a:lstStyle/>
                    <a:p>
                      <a:pPr indent="0" lvl="0" marL="0" rtl="0" algn="l">
                        <a:lnSpc>
                          <a:spcPct val="100000"/>
                        </a:lnSpc>
                        <a:spcBef>
                          <a:spcPts val="0"/>
                        </a:spcBef>
                        <a:spcAft>
                          <a:spcPts val="0"/>
                        </a:spcAft>
                        <a:buNone/>
                      </a:pPr>
                      <a:r>
                        <a:rPr lang="en" sz="1000">
                          <a:solidFill>
                            <a:schemeClr val="dk1"/>
                          </a:solidFill>
                        </a:rPr>
                        <a:t>Delayed or incorrect routing by supervisors</a:t>
                      </a:r>
                      <a:endParaRPr sz="1000">
                        <a:solidFill>
                          <a:schemeClr val="dk1"/>
                        </a:solidFill>
                      </a:endParaRPr>
                    </a:p>
                  </a:txBody>
                  <a:tcPr marT="91425" marB="91425" marR="91425" marL="91425">
                    <a:solidFill>
                      <a:schemeClr val="lt1"/>
                    </a:solidFill>
                  </a:tcPr>
                </a:tc>
                <a:tc>
                  <a:txBody>
                    <a:bodyPr/>
                    <a:lstStyle/>
                    <a:p>
                      <a:pPr indent="0" lvl="0" marL="0" rtl="0" algn="l">
                        <a:lnSpc>
                          <a:spcPct val="100000"/>
                        </a:lnSpc>
                        <a:spcBef>
                          <a:spcPts val="0"/>
                        </a:spcBef>
                        <a:spcAft>
                          <a:spcPts val="0"/>
                        </a:spcAft>
                        <a:buNone/>
                      </a:pPr>
                      <a:r>
                        <a:rPr lang="en" sz="1000">
                          <a:solidFill>
                            <a:schemeClr val="dk1"/>
                          </a:solidFill>
                        </a:rPr>
                        <a:t>Transfers to wrong departments</a:t>
                      </a:r>
                      <a:endParaRPr sz="1000">
                        <a:solidFill>
                          <a:schemeClr val="dk1"/>
                        </a:solidFill>
                      </a:endParaRPr>
                    </a:p>
                  </a:txBody>
                  <a:tcPr marT="91425" marB="91425" marR="91425" marL="91425">
                    <a:solidFill>
                      <a:schemeClr val="lt1"/>
                    </a:solidFill>
                  </a:tcPr>
                </a:tc>
                <a:tc>
                  <a:txBody>
                    <a:bodyPr/>
                    <a:lstStyle/>
                    <a:p>
                      <a:pPr indent="0" lvl="0" marL="0" rtl="0" algn="l">
                        <a:lnSpc>
                          <a:spcPct val="100000"/>
                        </a:lnSpc>
                        <a:spcBef>
                          <a:spcPts val="0"/>
                        </a:spcBef>
                        <a:spcAft>
                          <a:spcPts val="0"/>
                        </a:spcAft>
                        <a:buNone/>
                      </a:pPr>
                      <a:r>
                        <a:rPr lang="en" sz="1000">
                          <a:solidFill>
                            <a:schemeClr val="dk1"/>
                          </a:solidFill>
                        </a:rPr>
                        <a:t>18%</a:t>
                      </a:r>
                      <a:endParaRPr sz="1000">
                        <a:solidFill>
                          <a:schemeClr val="dk1"/>
                        </a:solidFill>
                      </a:endParaRPr>
                    </a:p>
                  </a:txBody>
                  <a:tcPr marT="91425" marB="91425" marR="91425" marL="91425">
                    <a:solidFill>
                      <a:schemeClr val="lt1"/>
                    </a:solidFill>
                  </a:tcPr>
                </a:tc>
              </a:tr>
              <a:tr h="441625">
                <a:tc>
                  <a:txBody>
                    <a:bodyPr/>
                    <a:lstStyle/>
                    <a:p>
                      <a:pPr indent="0" lvl="0" marL="0" rtl="0" algn="l">
                        <a:lnSpc>
                          <a:spcPct val="100000"/>
                        </a:lnSpc>
                        <a:spcBef>
                          <a:spcPts val="0"/>
                        </a:spcBef>
                        <a:spcAft>
                          <a:spcPts val="0"/>
                        </a:spcAft>
                        <a:buNone/>
                      </a:pPr>
                      <a:r>
                        <a:rPr b="1" lang="en" sz="900">
                          <a:solidFill>
                            <a:schemeClr val="dk1"/>
                          </a:solidFill>
                        </a:rPr>
                        <a:t>Step 4 – Acknowledgment</a:t>
                      </a:r>
                      <a:endParaRPr b="1" sz="900">
                        <a:solidFill>
                          <a:schemeClr val="dk1"/>
                        </a:solidFill>
                      </a:endParaRPr>
                    </a:p>
                  </a:txBody>
                  <a:tcPr marT="91425" marB="91425" marR="91425" marL="91425">
                    <a:solidFill>
                      <a:schemeClr val="lt1"/>
                    </a:solidFill>
                  </a:tcPr>
                </a:tc>
                <a:tc>
                  <a:txBody>
                    <a:bodyPr/>
                    <a:lstStyle/>
                    <a:p>
                      <a:pPr indent="0" lvl="0" marL="0" rtl="0" algn="l">
                        <a:lnSpc>
                          <a:spcPct val="100000"/>
                        </a:lnSpc>
                        <a:spcBef>
                          <a:spcPts val="0"/>
                        </a:spcBef>
                        <a:spcAft>
                          <a:spcPts val="0"/>
                        </a:spcAft>
                        <a:buNone/>
                      </a:pPr>
                      <a:r>
                        <a:rPr lang="en" sz="1000">
                          <a:solidFill>
                            <a:schemeClr val="dk1"/>
                          </a:solidFill>
                        </a:rPr>
                        <a:t>Late or missing confirmation emails</a:t>
                      </a:r>
                      <a:endParaRPr sz="1000">
                        <a:solidFill>
                          <a:schemeClr val="dk1"/>
                        </a:solidFill>
                      </a:endParaRPr>
                    </a:p>
                  </a:txBody>
                  <a:tcPr marT="91425" marB="91425" marR="91425" marL="91425">
                    <a:solidFill>
                      <a:schemeClr val="lt1"/>
                    </a:solidFill>
                  </a:tcPr>
                </a:tc>
                <a:tc>
                  <a:txBody>
                    <a:bodyPr/>
                    <a:lstStyle/>
                    <a:p>
                      <a:pPr indent="0" lvl="0" marL="0" rtl="0" algn="l">
                        <a:lnSpc>
                          <a:spcPct val="100000"/>
                        </a:lnSpc>
                        <a:spcBef>
                          <a:spcPts val="0"/>
                        </a:spcBef>
                        <a:spcAft>
                          <a:spcPts val="0"/>
                        </a:spcAft>
                        <a:buNone/>
                      </a:pPr>
                      <a:r>
                        <a:rPr lang="en" sz="1000">
                          <a:solidFill>
                            <a:schemeClr val="dk1"/>
                          </a:solidFill>
                        </a:rPr>
                        <a:t>Long Wait Times, No Response</a:t>
                      </a:r>
                      <a:endParaRPr sz="1000">
                        <a:solidFill>
                          <a:schemeClr val="dk1"/>
                        </a:solidFill>
                      </a:endParaRPr>
                    </a:p>
                  </a:txBody>
                  <a:tcPr marT="91425" marB="91425" marR="91425" marL="91425">
                    <a:solidFill>
                      <a:schemeClr val="lt1"/>
                    </a:solidFill>
                  </a:tcPr>
                </a:tc>
                <a:tc>
                  <a:txBody>
                    <a:bodyPr/>
                    <a:lstStyle/>
                    <a:p>
                      <a:pPr indent="0" lvl="0" marL="0" rtl="0" algn="l">
                        <a:lnSpc>
                          <a:spcPct val="100000"/>
                        </a:lnSpc>
                        <a:spcBef>
                          <a:spcPts val="0"/>
                        </a:spcBef>
                        <a:spcAft>
                          <a:spcPts val="0"/>
                        </a:spcAft>
                        <a:buNone/>
                      </a:pPr>
                      <a:r>
                        <a:rPr lang="en" sz="1000">
                          <a:solidFill>
                            <a:schemeClr val="dk1"/>
                          </a:solidFill>
                        </a:rPr>
                        <a:t>22%</a:t>
                      </a:r>
                      <a:endParaRPr sz="1000">
                        <a:solidFill>
                          <a:schemeClr val="dk1"/>
                        </a:solidFill>
                      </a:endParaRPr>
                    </a:p>
                  </a:txBody>
                  <a:tcPr marT="91425" marB="91425" marR="91425" marL="91425">
                    <a:solidFill>
                      <a:schemeClr val="lt1"/>
                    </a:solidFill>
                  </a:tcPr>
                </a:tc>
              </a:tr>
              <a:tr h="491175">
                <a:tc>
                  <a:txBody>
                    <a:bodyPr/>
                    <a:lstStyle/>
                    <a:p>
                      <a:pPr indent="0" lvl="0" marL="0" rtl="0" algn="l">
                        <a:lnSpc>
                          <a:spcPct val="100000"/>
                        </a:lnSpc>
                        <a:spcBef>
                          <a:spcPts val="0"/>
                        </a:spcBef>
                        <a:spcAft>
                          <a:spcPts val="0"/>
                        </a:spcAft>
                        <a:buNone/>
                      </a:pPr>
                      <a:r>
                        <a:rPr b="1" lang="en" sz="900">
                          <a:solidFill>
                            <a:schemeClr val="dk1"/>
                          </a:solidFill>
                        </a:rPr>
                        <a:t>Step 5 – CSR Resolution</a:t>
                      </a:r>
                      <a:endParaRPr b="1" sz="900">
                        <a:solidFill>
                          <a:schemeClr val="dk1"/>
                        </a:solidFill>
                      </a:endParaRPr>
                    </a:p>
                  </a:txBody>
                  <a:tcPr marT="91425" marB="91425" marR="91425" marL="91425">
                    <a:solidFill>
                      <a:schemeClr val="lt1"/>
                    </a:solidFill>
                  </a:tcPr>
                </a:tc>
                <a:tc>
                  <a:txBody>
                    <a:bodyPr/>
                    <a:lstStyle/>
                    <a:p>
                      <a:pPr indent="0" lvl="0" marL="0" rtl="0" algn="l">
                        <a:lnSpc>
                          <a:spcPct val="100000"/>
                        </a:lnSpc>
                        <a:spcBef>
                          <a:spcPts val="0"/>
                        </a:spcBef>
                        <a:spcAft>
                          <a:spcPts val="0"/>
                        </a:spcAft>
                        <a:buNone/>
                      </a:pPr>
                      <a:r>
                        <a:rPr lang="en" sz="1000">
                          <a:solidFill>
                            <a:schemeClr val="dk1"/>
                          </a:solidFill>
                        </a:rPr>
                        <a:t>Scripted replies, lack of product knowledge</a:t>
                      </a:r>
                      <a:endParaRPr sz="1000">
                        <a:solidFill>
                          <a:schemeClr val="dk1"/>
                        </a:solidFill>
                      </a:endParaRPr>
                    </a:p>
                  </a:txBody>
                  <a:tcPr marT="91425" marB="91425" marR="91425" marL="91425">
                    <a:solidFill>
                      <a:schemeClr val="lt1"/>
                    </a:solidFill>
                  </a:tcPr>
                </a:tc>
                <a:tc>
                  <a:txBody>
                    <a:bodyPr/>
                    <a:lstStyle/>
                    <a:p>
                      <a:pPr indent="0" lvl="0" marL="0" rtl="0" algn="l">
                        <a:lnSpc>
                          <a:spcPct val="100000"/>
                        </a:lnSpc>
                        <a:spcBef>
                          <a:spcPts val="0"/>
                        </a:spcBef>
                        <a:spcAft>
                          <a:spcPts val="0"/>
                        </a:spcAft>
                        <a:buNone/>
                      </a:pPr>
                      <a:r>
                        <a:rPr lang="en" sz="1000">
                          <a:solidFill>
                            <a:schemeClr val="dk1"/>
                          </a:solidFill>
                        </a:rPr>
                        <a:t>Unhelpful agents, Generic interactions</a:t>
                      </a:r>
                      <a:endParaRPr sz="1000">
                        <a:solidFill>
                          <a:schemeClr val="dk1"/>
                        </a:solidFill>
                      </a:endParaRPr>
                    </a:p>
                  </a:txBody>
                  <a:tcPr marT="91425" marB="91425" marR="91425" marL="91425">
                    <a:solidFill>
                      <a:schemeClr val="lt1"/>
                    </a:solidFill>
                  </a:tcPr>
                </a:tc>
                <a:tc>
                  <a:txBody>
                    <a:bodyPr/>
                    <a:lstStyle/>
                    <a:p>
                      <a:pPr indent="0" lvl="0" marL="0" rtl="0" algn="l">
                        <a:lnSpc>
                          <a:spcPct val="100000"/>
                        </a:lnSpc>
                        <a:spcBef>
                          <a:spcPts val="0"/>
                        </a:spcBef>
                        <a:spcAft>
                          <a:spcPts val="0"/>
                        </a:spcAft>
                        <a:buNone/>
                      </a:pPr>
                      <a:r>
                        <a:rPr lang="en" sz="1000">
                          <a:solidFill>
                            <a:schemeClr val="dk1"/>
                          </a:solidFill>
                        </a:rPr>
                        <a:t>28%</a:t>
                      </a:r>
                      <a:endParaRPr sz="1000">
                        <a:solidFill>
                          <a:schemeClr val="dk1"/>
                        </a:solidFill>
                      </a:endParaRPr>
                    </a:p>
                  </a:txBody>
                  <a:tcPr marT="91425" marB="91425" marR="91425" marL="91425">
                    <a:solidFill>
                      <a:schemeClr val="lt1"/>
                    </a:solidFill>
                  </a:tcPr>
                </a:tc>
              </a:tr>
              <a:tr h="491175">
                <a:tc>
                  <a:txBody>
                    <a:bodyPr/>
                    <a:lstStyle/>
                    <a:p>
                      <a:pPr indent="0" lvl="0" marL="0" rtl="0" algn="l">
                        <a:lnSpc>
                          <a:spcPct val="100000"/>
                        </a:lnSpc>
                        <a:spcBef>
                          <a:spcPts val="0"/>
                        </a:spcBef>
                        <a:spcAft>
                          <a:spcPts val="0"/>
                        </a:spcAft>
                        <a:buNone/>
                      </a:pPr>
                      <a:r>
                        <a:rPr b="1" lang="en" sz="900">
                          <a:solidFill>
                            <a:schemeClr val="dk1"/>
                          </a:solidFill>
                        </a:rPr>
                        <a:t>Step 6 – Escalation</a:t>
                      </a:r>
                      <a:endParaRPr b="1" sz="900">
                        <a:solidFill>
                          <a:schemeClr val="dk1"/>
                        </a:solidFill>
                      </a:endParaRPr>
                    </a:p>
                  </a:txBody>
                  <a:tcPr marT="91425" marB="91425" marR="91425" marL="91425">
                    <a:solidFill>
                      <a:schemeClr val="lt1"/>
                    </a:solidFill>
                  </a:tcPr>
                </a:tc>
                <a:tc>
                  <a:txBody>
                    <a:bodyPr/>
                    <a:lstStyle/>
                    <a:p>
                      <a:pPr indent="0" lvl="0" marL="0" rtl="0" algn="l">
                        <a:lnSpc>
                          <a:spcPct val="100000"/>
                        </a:lnSpc>
                        <a:spcBef>
                          <a:spcPts val="0"/>
                        </a:spcBef>
                        <a:spcAft>
                          <a:spcPts val="0"/>
                        </a:spcAft>
                        <a:buNone/>
                      </a:pPr>
                      <a:r>
                        <a:rPr lang="en" sz="1000">
                          <a:solidFill>
                            <a:schemeClr val="dk1"/>
                          </a:solidFill>
                        </a:rPr>
                        <a:t>Escalation delays, unresolved complex issues</a:t>
                      </a:r>
                      <a:endParaRPr sz="1000">
                        <a:solidFill>
                          <a:schemeClr val="dk1"/>
                        </a:solidFill>
                      </a:endParaRPr>
                    </a:p>
                  </a:txBody>
                  <a:tcPr marT="91425" marB="91425" marR="91425" marL="91425">
                    <a:solidFill>
                      <a:schemeClr val="lt1"/>
                    </a:solidFill>
                  </a:tcPr>
                </a:tc>
                <a:tc>
                  <a:txBody>
                    <a:bodyPr/>
                    <a:lstStyle/>
                    <a:p>
                      <a:pPr indent="0" lvl="0" marL="0" rtl="0" algn="l">
                        <a:lnSpc>
                          <a:spcPct val="100000"/>
                        </a:lnSpc>
                        <a:spcBef>
                          <a:spcPts val="0"/>
                        </a:spcBef>
                        <a:spcAft>
                          <a:spcPts val="0"/>
                        </a:spcAft>
                        <a:buNone/>
                      </a:pPr>
                      <a:r>
                        <a:rPr lang="en" sz="1000">
                          <a:solidFill>
                            <a:schemeClr val="dk1"/>
                          </a:solidFill>
                        </a:rPr>
                        <a:t>No resolution after multiple contacts</a:t>
                      </a:r>
                      <a:endParaRPr sz="1000">
                        <a:solidFill>
                          <a:schemeClr val="dk1"/>
                        </a:solidFill>
                      </a:endParaRPr>
                    </a:p>
                  </a:txBody>
                  <a:tcPr marT="91425" marB="91425" marR="91425" marL="91425">
                    <a:solidFill>
                      <a:schemeClr val="lt1"/>
                    </a:solidFill>
                  </a:tcPr>
                </a:tc>
                <a:tc>
                  <a:txBody>
                    <a:bodyPr/>
                    <a:lstStyle/>
                    <a:p>
                      <a:pPr indent="0" lvl="0" marL="0" rtl="0" algn="l">
                        <a:lnSpc>
                          <a:spcPct val="100000"/>
                        </a:lnSpc>
                        <a:spcBef>
                          <a:spcPts val="0"/>
                        </a:spcBef>
                        <a:spcAft>
                          <a:spcPts val="0"/>
                        </a:spcAft>
                        <a:buNone/>
                      </a:pPr>
                      <a:r>
                        <a:rPr lang="en" sz="1000">
                          <a:solidFill>
                            <a:schemeClr val="dk1"/>
                          </a:solidFill>
                        </a:rPr>
                        <a:t>20%</a:t>
                      </a:r>
                      <a:endParaRPr sz="1000">
                        <a:solidFill>
                          <a:schemeClr val="dk1"/>
                        </a:solidFill>
                      </a:endParaRPr>
                    </a:p>
                  </a:txBody>
                  <a:tcPr marT="91425" marB="91425" marR="91425" marL="91425">
                    <a:solidFill>
                      <a:schemeClr val="lt1"/>
                    </a:solidFill>
                  </a:tcPr>
                </a:tc>
              </a:tr>
              <a:tr h="491175">
                <a:tc>
                  <a:txBody>
                    <a:bodyPr/>
                    <a:lstStyle/>
                    <a:p>
                      <a:pPr indent="0" lvl="0" marL="0" rtl="0" algn="l">
                        <a:lnSpc>
                          <a:spcPct val="100000"/>
                        </a:lnSpc>
                        <a:spcBef>
                          <a:spcPts val="0"/>
                        </a:spcBef>
                        <a:spcAft>
                          <a:spcPts val="0"/>
                        </a:spcAft>
                        <a:buNone/>
                      </a:pPr>
                      <a:r>
                        <a:rPr b="1" lang="en" sz="900">
                          <a:solidFill>
                            <a:schemeClr val="dk1"/>
                          </a:solidFill>
                        </a:rPr>
                        <a:t>Step 7 – Follow-Up</a:t>
                      </a:r>
                      <a:endParaRPr b="1" sz="900">
                        <a:solidFill>
                          <a:schemeClr val="dk1"/>
                        </a:solidFill>
                      </a:endParaRPr>
                    </a:p>
                  </a:txBody>
                  <a:tcPr marT="91425" marB="91425" marR="91425" marL="91425">
                    <a:solidFill>
                      <a:schemeClr val="lt1"/>
                    </a:solidFill>
                  </a:tcPr>
                </a:tc>
                <a:tc>
                  <a:txBody>
                    <a:bodyPr/>
                    <a:lstStyle/>
                    <a:p>
                      <a:pPr indent="0" lvl="0" marL="0" rtl="0" algn="l">
                        <a:lnSpc>
                          <a:spcPct val="100000"/>
                        </a:lnSpc>
                        <a:spcBef>
                          <a:spcPts val="0"/>
                        </a:spcBef>
                        <a:spcAft>
                          <a:spcPts val="0"/>
                        </a:spcAft>
                        <a:buNone/>
                      </a:pPr>
                      <a:r>
                        <a:rPr lang="en" sz="1000">
                          <a:solidFill>
                            <a:schemeClr val="dk1"/>
                          </a:solidFill>
                        </a:rPr>
                        <a:t>Missing feedback surveys or customer updates</a:t>
                      </a:r>
                      <a:endParaRPr sz="1000">
                        <a:solidFill>
                          <a:schemeClr val="dk1"/>
                        </a:solidFill>
                      </a:endParaRPr>
                    </a:p>
                  </a:txBody>
                  <a:tcPr marT="91425" marB="91425" marR="91425" marL="91425">
                    <a:solidFill>
                      <a:schemeClr val="lt1"/>
                    </a:solidFill>
                  </a:tcPr>
                </a:tc>
                <a:tc>
                  <a:txBody>
                    <a:bodyPr/>
                    <a:lstStyle/>
                    <a:p>
                      <a:pPr indent="0" lvl="0" marL="0" rtl="0" algn="l">
                        <a:lnSpc>
                          <a:spcPct val="100000"/>
                        </a:lnSpc>
                        <a:spcBef>
                          <a:spcPts val="0"/>
                        </a:spcBef>
                        <a:spcAft>
                          <a:spcPts val="0"/>
                        </a:spcAft>
                        <a:buNone/>
                      </a:pPr>
                      <a:r>
                        <a:rPr lang="en" sz="1000">
                          <a:solidFill>
                            <a:schemeClr val="dk1"/>
                          </a:solidFill>
                        </a:rPr>
                        <a:t>Poor communication, Lack of closure</a:t>
                      </a:r>
                      <a:endParaRPr sz="1000">
                        <a:solidFill>
                          <a:schemeClr val="dk1"/>
                        </a:solidFill>
                      </a:endParaRPr>
                    </a:p>
                  </a:txBody>
                  <a:tcPr marT="91425" marB="91425" marR="91425" marL="91425">
                    <a:solidFill>
                      <a:schemeClr val="lt1"/>
                    </a:solidFill>
                  </a:tcPr>
                </a:tc>
                <a:tc>
                  <a:txBody>
                    <a:bodyPr/>
                    <a:lstStyle/>
                    <a:p>
                      <a:pPr indent="0" lvl="0" marL="0" rtl="0" algn="l">
                        <a:lnSpc>
                          <a:spcPct val="100000"/>
                        </a:lnSpc>
                        <a:spcBef>
                          <a:spcPts val="0"/>
                        </a:spcBef>
                        <a:spcAft>
                          <a:spcPts val="0"/>
                        </a:spcAft>
                        <a:buNone/>
                      </a:pPr>
                      <a:r>
                        <a:rPr lang="en" sz="1000">
                          <a:solidFill>
                            <a:schemeClr val="dk1"/>
                          </a:solidFill>
                        </a:rPr>
                        <a:t>7%</a:t>
                      </a:r>
                      <a:endParaRPr sz="1000">
                        <a:solidFill>
                          <a:schemeClr val="dk1"/>
                        </a:solidFill>
                      </a:endParaRPr>
                    </a:p>
                  </a:txBody>
                  <a:tcPr marT="91425" marB="91425" marR="91425" marL="91425">
                    <a:solidFill>
                      <a:schemeClr val="lt1"/>
                    </a:solidFill>
                  </a:tcPr>
                </a:tc>
              </a:tr>
            </a:tbl>
          </a:graphicData>
        </a:graphic>
      </p:graphicFrame>
      <p:sp>
        <p:nvSpPr>
          <p:cNvPr id="105" name="Google Shape;105;p31"/>
          <p:cNvSpPr/>
          <p:nvPr/>
        </p:nvSpPr>
        <p:spPr>
          <a:xfrm>
            <a:off x="350350" y="272900"/>
            <a:ext cx="7054200" cy="819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700"/>
              <a:t>Entire Complaint Data Summarized </a:t>
            </a:r>
            <a:endParaRPr b="1" sz="2700"/>
          </a:p>
          <a:p>
            <a:pPr indent="0" lvl="0" marL="0" rtl="0" algn="l">
              <a:spcBef>
                <a:spcPts val="0"/>
              </a:spcBef>
              <a:spcAft>
                <a:spcPts val="0"/>
              </a:spcAft>
              <a:buNone/>
            </a:pPr>
            <a:r>
              <a:rPr b="1" lang="en"/>
              <a:t>(based on a sample of 50 complaints) :</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2"/>
          <p:cNvSpPr/>
          <p:nvPr/>
        </p:nvSpPr>
        <p:spPr>
          <a:xfrm>
            <a:off x="-64425" y="34050"/>
            <a:ext cx="9144000" cy="5075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111" name="Google Shape;111;p32"/>
          <p:cNvGraphicFramePr/>
          <p:nvPr/>
        </p:nvGraphicFramePr>
        <p:xfrm>
          <a:off x="236275" y="1474500"/>
          <a:ext cx="3000000" cy="3000000"/>
        </p:xfrm>
        <a:graphic>
          <a:graphicData uri="http://schemas.openxmlformats.org/drawingml/2006/table">
            <a:tbl>
              <a:tblPr>
                <a:noFill/>
                <a:tableStyleId>{246A0A2C-4418-4E54-B235-0710FBA08BBA}</a:tableStyleId>
              </a:tblPr>
              <a:tblGrid>
                <a:gridCol w="1811125"/>
                <a:gridCol w="1856850"/>
                <a:gridCol w="2524600"/>
                <a:gridCol w="1692225"/>
                <a:gridCol w="786650"/>
              </a:tblGrid>
              <a:tr h="609350">
                <a:tc>
                  <a:txBody>
                    <a:bodyPr/>
                    <a:lstStyle/>
                    <a:p>
                      <a:pPr indent="0" lvl="0" marL="0" rtl="0" algn="l">
                        <a:lnSpc>
                          <a:spcPct val="115000"/>
                        </a:lnSpc>
                        <a:spcBef>
                          <a:spcPts val="0"/>
                        </a:spcBef>
                        <a:spcAft>
                          <a:spcPts val="0"/>
                        </a:spcAft>
                        <a:buNone/>
                      </a:pPr>
                      <a:r>
                        <a:rPr b="1" lang="en" sz="900"/>
                        <a:t>Workflow Step</a:t>
                      </a:r>
                      <a:endParaRPr b="1" sz="900"/>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rPr b="1" lang="en" sz="900"/>
                        <a:t>Problem</a:t>
                      </a:r>
                      <a:endParaRPr b="1" sz="900"/>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rPr b="1" lang="en" sz="900"/>
                        <a:t>Impact</a:t>
                      </a:r>
                      <a:endParaRPr b="1" sz="900"/>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rPr b="1" lang="en" sz="900"/>
                        <a:t>Related Complaint Theme</a:t>
                      </a:r>
                      <a:endParaRPr b="1" sz="900"/>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rPr b="1" lang="en" sz="900"/>
                        <a:t>% </a:t>
                      </a:r>
                      <a:r>
                        <a:rPr b="1" lang="en" sz="700"/>
                        <a:t>of C</a:t>
                      </a:r>
                      <a:r>
                        <a:rPr b="1" lang="en" sz="600"/>
                        <a:t>omplaints</a:t>
                      </a:r>
                      <a:endParaRPr b="1" sz="600"/>
                    </a:p>
                  </a:txBody>
                  <a:tcPr marT="91425" marB="91425" marR="91425" marL="91425">
                    <a:solidFill>
                      <a:schemeClr val="lt1"/>
                    </a:solidFill>
                  </a:tcPr>
                </a:tc>
              </a:tr>
              <a:tr h="361950">
                <a:tc>
                  <a:txBody>
                    <a:bodyPr/>
                    <a:lstStyle/>
                    <a:p>
                      <a:pPr indent="0" lvl="0" marL="0" rtl="0" algn="l">
                        <a:lnSpc>
                          <a:spcPct val="115000"/>
                        </a:lnSpc>
                        <a:spcBef>
                          <a:spcPts val="0"/>
                        </a:spcBef>
                        <a:spcAft>
                          <a:spcPts val="0"/>
                        </a:spcAft>
                        <a:buNone/>
                      </a:pPr>
                      <a:r>
                        <a:rPr b="1" lang="en" sz="900">
                          <a:solidFill>
                            <a:schemeClr val="dk1"/>
                          </a:solidFill>
                        </a:rPr>
                        <a:t>Step 2 – Manual Data Entry</a:t>
                      </a:r>
                      <a:endParaRPr b="1" sz="900">
                        <a:solidFill>
                          <a:schemeClr val="dk1"/>
                        </a:solidFill>
                      </a:endParaRPr>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rPr lang="en" sz="1000"/>
                        <a:t>CSRs manually log inquiries into the CRM</a:t>
                      </a:r>
                      <a:endParaRPr sz="1000"/>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rPr lang="en" sz="1000"/>
                        <a:t>Slows down response time and increases human error</a:t>
                      </a:r>
                      <a:endParaRPr sz="1000"/>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rPr lang="en" sz="1000"/>
                        <a:t>Repetition &amp; Misrouting</a:t>
                      </a:r>
                      <a:endParaRPr sz="1000"/>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rPr lang="en" sz="1000"/>
                        <a:t>18%</a:t>
                      </a:r>
                      <a:endParaRPr sz="1000"/>
                    </a:p>
                  </a:txBody>
                  <a:tcPr marT="91425" marB="91425" marR="91425" marL="91425">
                    <a:solidFill>
                      <a:schemeClr val="lt1"/>
                    </a:solidFill>
                  </a:tcPr>
                </a:tc>
              </a:tr>
              <a:tr h="361950">
                <a:tc>
                  <a:txBody>
                    <a:bodyPr/>
                    <a:lstStyle/>
                    <a:p>
                      <a:pPr indent="0" lvl="0" marL="0" rtl="0" algn="l">
                        <a:lnSpc>
                          <a:spcPct val="115000"/>
                        </a:lnSpc>
                        <a:spcBef>
                          <a:spcPts val="0"/>
                        </a:spcBef>
                        <a:spcAft>
                          <a:spcPts val="0"/>
                        </a:spcAft>
                        <a:buNone/>
                      </a:pPr>
                      <a:r>
                        <a:rPr b="1" lang="en" sz="900">
                          <a:solidFill>
                            <a:schemeClr val="dk1"/>
                          </a:solidFill>
                        </a:rPr>
                        <a:t>Step 3 – Ticket Assignment Delays</a:t>
                      </a:r>
                      <a:endParaRPr b="1" sz="900">
                        <a:solidFill>
                          <a:schemeClr val="dk1"/>
                        </a:solidFill>
                      </a:endParaRPr>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rPr lang="en" sz="1000"/>
                        <a:t>Supervisors assign tickets manually</a:t>
                      </a:r>
                      <a:endParaRPr sz="1000"/>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rPr lang="en" sz="1000"/>
                        <a:t>Causes delays, uneven workload, and routing errors</a:t>
                      </a:r>
                      <a:endParaRPr sz="1000"/>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rPr lang="en" sz="1000"/>
                        <a:t>Transfers &amp; Delayed Responses</a:t>
                      </a:r>
                      <a:endParaRPr sz="1000"/>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rPr lang="en" sz="1000"/>
                        <a:t>18%</a:t>
                      </a:r>
                      <a:endParaRPr sz="1000"/>
                    </a:p>
                  </a:txBody>
                  <a:tcPr marT="91425" marB="91425" marR="91425" marL="91425">
                    <a:solidFill>
                      <a:schemeClr val="lt1"/>
                    </a:solidFill>
                  </a:tcPr>
                </a:tc>
              </a:tr>
              <a:tr h="361950">
                <a:tc>
                  <a:txBody>
                    <a:bodyPr/>
                    <a:lstStyle/>
                    <a:p>
                      <a:pPr indent="0" lvl="0" marL="0" rtl="0" algn="l">
                        <a:lnSpc>
                          <a:spcPct val="115000"/>
                        </a:lnSpc>
                        <a:spcBef>
                          <a:spcPts val="0"/>
                        </a:spcBef>
                        <a:spcAft>
                          <a:spcPts val="0"/>
                        </a:spcAft>
                        <a:buNone/>
                      </a:pPr>
                      <a:r>
                        <a:rPr b="1" lang="en" sz="900">
                          <a:solidFill>
                            <a:schemeClr val="dk1"/>
                          </a:solidFill>
                        </a:rPr>
                        <a:t>Step 4, 5 – Robotic Customer Interactions</a:t>
                      </a:r>
                      <a:endParaRPr b="1" sz="900">
                        <a:solidFill>
                          <a:schemeClr val="dk1"/>
                        </a:solidFill>
                      </a:endParaRPr>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rPr lang="en" sz="1000"/>
                        <a:t>CSRs rely on no or impersonal replies</a:t>
                      </a:r>
                      <a:endParaRPr sz="1000"/>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rPr lang="en" sz="1000"/>
                        <a:t>Makes customers feel ignored, frustrated, and undervalued</a:t>
                      </a:r>
                      <a:endParaRPr sz="1000"/>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rPr lang="en" sz="1000"/>
                        <a:t>Unprofessional or Scripted Interactions</a:t>
                      </a:r>
                      <a:endParaRPr sz="1000"/>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rPr lang="en" sz="1000"/>
                        <a:t>50</a:t>
                      </a:r>
                      <a:r>
                        <a:rPr lang="en" sz="1000"/>
                        <a:t>%</a:t>
                      </a:r>
                      <a:endParaRPr sz="1000"/>
                    </a:p>
                  </a:txBody>
                  <a:tcPr marT="91425" marB="91425" marR="91425" marL="91425">
                    <a:solidFill>
                      <a:schemeClr val="lt1"/>
                    </a:solidFill>
                  </a:tcPr>
                </a:tc>
              </a:tr>
            </a:tbl>
          </a:graphicData>
        </a:graphic>
      </p:graphicFrame>
      <p:sp>
        <p:nvSpPr>
          <p:cNvPr id="112" name="Google Shape;112;p32"/>
          <p:cNvSpPr/>
          <p:nvPr/>
        </p:nvSpPr>
        <p:spPr>
          <a:xfrm>
            <a:off x="332675" y="435050"/>
            <a:ext cx="8163000" cy="819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00">
              <a:solidFill>
                <a:srgbClr val="FFFF00"/>
              </a:solidFill>
            </a:endParaRPr>
          </a:p>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Key Problems Identified</a:t>
            </a:r>
            <a:endParaRPr sz="1700">
              <a:solidFill>
                <a:srgbClr val="1A1A1A"/>
              </a:solidFill>
              <a:latin typeface="Inter ExtraBold"/>
              <a:ea typeface="Inter ExtraBold"/>
              <a:cs typeface="Inter ExtraBold"/>
              <a:sym typeface="Inter ExtraBold"/>
            </a:endParaRPr>
          </a:p>
          <a:p>
            <a:pPr indent="0" lvl="0" marL="0" rtl="0" algn="l">
              <a:spcBef>
                <a:spcPts val="0"/>
              </a:spcBef>
              <a:spcAft>
                <a:spcPts val="0"/>
              </a:spcAft>
              <a:buClr>
                <a:schemeClr val="dk1"/>
              </a:buClr>
              <a:buSzPts val="1100"/>
              <a:buFont typeface="Arial"/>
              <a:buNone/>
            </a:pPr>
            <a:r>
              <a:rPr i="1" lang="en" sz="1100">
                <a:solidFill>
                  <a:schemeClr val="dk1"/>
                </a:solidFill>
                <a:latin typeface="Inter ExtraBold"/>
                <a:ea typeface="Inter ExtraBold"/>
                <a:cs typeface="Inter ExtraBold"/>
                <a:sym typeface="Inter ExtraBold"/>
              </a:rPr>
              <a:t>For this project 3 k</a:t>
            </a:r>
            <a:r>
              <a:rPr i="1" lang="en" sz="1100">
                <a:solidFill>
                  <a:schemeClr val="dk1"/>
                </a:solidFill>
                <a:latin typeface="Inter ExtraBold"/>
                <a:ea typeface="Inter ExtraBold"/>
                <a:cs typeface="Inter ExtraBold"/>
                <a:sym typeface="Inter ExtraBold"/>
              </a:rPr>
              <a:t>ey problems have been identified:</a:t>
            </a:r>
            <a:endParaRPr b="1" i="1" sz="100">
              <a:solidFill>
                <a:schemeClr val="dk1"/>
              </a:solidFill>
            </a:endParaRPr>
          </a:p>
        </p:txBody>
      </p:sp>
      <p:sp>
        <p:nvSpPr>
          <p:cNvPr id="113" name="Google Shape;113;p32"/>
          <p:cNvSpPr/>
          <p:nvPr/>
        </p:nvSpPr>
        <p:spPr>
          <a:xfrm>
            <a:off x="383850" y="4119025"/>
            <a:ext cx="8376300" cy="554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i="1" lang="en" sz="1300">
                <a:solidFill>
                  <a:schemeClr val="accent1"/>
                </a:solidFill>
              </a:rPr>
              <a:t>Solution:</a:t>
            </a:r>
            <a:br>
              <a:rPr b="1" i="1" lang="en" sz="1100">
                <a:solidFill>
                  <a:schemeClr val="dk1"/>
                </a:solidFill>
              </a:rPr>
            </a:br>
            <a:r>
              <a:rPr b="1" i="1" lang="en" sz="1100">
                <a:solidFill>
                  <a:schemeClr val="dk1"/>
                </a:solidFill>
              </a:rPr>
              <a:t>AI</a:t>
            </a:r>
            <a:r>
              <a:rPr i="1" lang="en" sz="1100">
                <a:solidFill>
                  <a:schemeClr val="dk1"/>
                </a:solidFill>
              </a:rPr>
              <a:t> can streamline support by automating ticket creation, routing inquiries to the right agent, and providing real-time assistance, reducing errors, speeding up responses, and improving the overall emotional component of customer experience.</a:t>
            </a:r>
            <a:endParaRPr sz="1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17" name="Shape 117"/>
        <p:cNvGrpSpPr/>
        <p:nvPr/>
      </p:nvGrpSpPr>
      <p:grpSpPr>
        <a:xfrm>
          <a:off x="0" y="0"/>
          <a:ext cx="0" cy="0"/>
          <a:chOff x="0" y="0"/>
          <a:chExt cx="0" cy="0"/>
        </a:xfrm>
      </p:grpSpPr>
      <p:sp>
        <p:nvSpPr>
          <p:cNvPr id="118" name="Google Shape;118;p33"/>
          <p:cNvSpPr txBox="1"/>
          <p:nvPr>
            <p:ph type="ctrTitle"/>
          </p:nvPr>
        </p:nvSpPr>
        <p:spPr>
          <a:xfrm>
            <a:off x="228600" y="370250"/>
            <a:ext cx="8520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300">
                <a:solidFill>
                  <a:srgbClr val="1A1A1A"/>
                </a:solidFill>
                <a:latin typeface="Inter ExtraBold"/>
                <a:ea typeface="Inter ExtraBold"/>
                <a:cs typeface="Inter ExtraBold"/>
                <a:sym typeface="Inter ExtraBold"/>
              </a:rPr>
              <a:t>Proposed AI integration</a:t>
            </a:r>
            <a:endParaRPr sz="3300">
              <a:solidFill>
                <a:srgbClr val="1A1A1A"/>
              </a:solidFill>
              <a:latin typeface="Inter ExtraBold"/>
              <a:ea typeface="Inter ExtraBold"/>
              <a:cs typeface="Inter ExtraBold"/>
              <a:sym typeface="Inter ExtraBold"/>
            </a:endParaRPr>
          </a:p>
        </p:txBody>
      </p:sp>
      <p:sp>
        <p:nvSpPr>
          <p:cNvPr id="119" name="Google Shape;119;p33"/>
          <p:cNvSpPr/>
          <p:nvPr/>
        </p:nvSpPr>
        <p:spPr>
          <a:xfrm>
            <a:off x="228600" y="1291525"/>
            <a:ext cx="2808000" cy="3686400"/>
          </a:xfrm>
          <a:prstGeom prst="snip2DiagRect">
            <a:avLst>
              <a:gd fmla="val 0" name="adj1"/>
              <a:gd fmla="val 9217" name="adj2"/>
            </a:avLst>
          </a:prstGeom>
          <a:solidFill>
            <a:schemeClr val="lt1"/>
          </a:solidFill>
          <a:ln>
            <a:noFill/>
          </a:ln>
        </p:spPr>
        <p:txBody>
          <a:bodyPr anchorCtr="0" anchor="t" bIns="274300" lIns="91425" spcFirstLastPara="1" rIns="91425" wrap="square" tIns="91425">
            <a:noAutofit/>
          </a:bodyPr>
          <a:lstStyle/>
          <a:p>
            <a:pPr indent="0" lvl="0" marL="0" rtl="0" algn="l">
              <a:lnSpc>
                <a:spcPct val="115000"/>
              </a:lnSpc>
              <a:spcBef>
                <a:spcPts val="0"/>
              </a:spcBef>
              <a:spcAft>
                <a:spcPts val="0"/>
              </a:spcAft>
              <a:buNone/>
            </a:pPr>
            <a:r>
              <a:rPr b="1" lang="en">
                <a:solidFill>
                  <a:schemeClr val="dk1"/>
                </a:solidFill>
              </a:rPr>
              <a:t>Suggested AI Tools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900">
                <a:solidFill>
                  <a:schemeClr val="dk1"/>
                </a:solidFill>
              </a:rPr>
              <a:t>Auto-Ticketing System: </a:t>
            </a:r>
            <a:r>
              <a:rPr b="1" lang="en" sz="900">
                <a:solidFill>
                  <a:schemeClr val="accent4"/>
                </a:solidFill>
              </a:rPr>
              <a:t>Step 2</a:t>
            </a:r>
            <a:br>
              <a:rPr b="1" lang="en" sz="900">
                <a:solidFill>
                  <a:schemeClr val="dk1"/>
                </a:solidFill>
              </a:rPr>
            </a:br>
            <a:r>
              <a:rPr lang="en" sz="900">
                <a:solidFill>
                  <a:schemeClr val="dk1"/>
                </a:solidFill>
              </a:rPr>
              <a:t>Integrates with email, chat, and web forms to automatically create tickets in the CRM</a:t>
            </a:r>
            <a:br>
              <a:rPr lang="en" sz="900">
                <a:solidFill>
                  <a:schemeClr val="dk1"/>
                </a:solidFill>
              </a:rPr>
            </a:br>
            <a:r>
              <a:rPr i="1" lang="en" sz="900">
                <a:solidFill>
                  <a:schemeClr val="dk1"/>
                </a:solidFill>
              </a:rPr>
              <a:t>Example: Zendesk AI </a:t>
            </a:r>
            <a:endParaRPr i="1" sz="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900">
                <a:solidFill>
                  <a:schemeClr val="dk1"/>
                </a:solidFill>
              </a:rPr>
              <a:t>AI-Powered Ticket Routing: </a:t>
            </a:r>
            <a:r>
              <a:rPr b="1" lang="en" sz="900">
                <a:solidFill>
                  <a:schemeClr val="accent4"/>
                </a:solidFill>
              </a:rPr>
              <a:t>Step 3</a:t>
            </a:r>
            <a:br>
              <a:rPr b="1" lang="en" sz="900">
                <a:solidFill>
                  <a:schemeClr val="dk1"/>
                </a:solidFill>
              </a:rPr>
            </a:br>
            <a:r>
              <a:rPr lang="en" sz="900">
                <a:solidFill>
                  <a:schemeClr val="dk1"/>
                </a:solidFill>
              </a:rPr>
              <a:t>Uses NLP and workload analysis to assign tickets to the right CSR based on issue type and skill match</a:t>
            </a:r>
            <a:br>
              <a:rPr lang="en" sz="900">
                <a:solidFill>
                  <a:schemeClr val="dk1"/>
                </a:solidFill>
              </a:rPr>
            </a:br>
            <a:r>
              <a:rPr i="1" lang="en" sz="900">
                <a:solidFill>
                  <a:schemeClr val="dk1"/>
                </a:solidFill>
              </a:rPr>
              <a:t>Example: Freshdesk Freddy AI </a:t>
            </a:r>
            <a:endParaRPr i="1" sz="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900">
                <a:solidFill>
                  <a:schemeClr val="dk1"/>
                </a:solidFill>
              </a:rPr>
              <a:t>Real-Time Sentiment Analysis: </a:t>
            </a:r>
            <a:r>
              <a:rPr b="1" lang="en" sz="900">
                <a:solidFill>
                  <a:schemeClr val="accent4"/>
                </a:solidFill>
              </a:rPr>
              <a:t>Step 4, 5</a:t>
            </a:r>
            <a:br>
              <a:rPr b="1" lang="en" sz="900">
                <a:solidFill>
                  <a:schemeClr val="dk1"/>
                </a:solidFill>
              </a:rPr>
            </a:br>
            <a:r>
              <a:rPr lang="en" sz="900">
                <a:solidFill>
                  <a:schemeClr val="dk1"/>
                </a:solidFill>
              </a:rPr>
              <a:t>Embedded in CSR dashboard to detect frustration and guide tone adjustments during chats, calls, or confirmation emails</a:t>
            </a:r>
            <a:br>
              <a:rPr lang="en" sz="900">
                <a:solidFill>
                  <a:schemeClr val="dk1"/>
                </a:solidFill>
              </a:rPr>
            </a:br>
            <a:r>
              <a:rPr i="1" lang="en" sz="900">
                <a:solidFill>
                  <a:schemeClr val="dk1"/>
                </a:solidFill>
              </a:rPr>
              <a:t>Example: IBM Watson </a:t>
            </a:r>
            <a:endParaRPr i="1" sz="900">
              <a:solidFill>
                <a:schemeClr val="dk1"/>
              </a:solidFill>
            </a:endParaRPr>
          </a:p>
          <a:p>
            <a:pPr indent="0" lvl="0" marL="0" rtl="0" algn="l">
              <a:lnSpc>
                <a:spcPct val="115000"/>
              </a:lnSpc>
              <a:spcBef>
                <a:spcPts val="1200"/>
              </a:spcBef>
              <a:spcAft>
                <a:spcPts val="0"/>
              </a:spcAft>
              <a:buNone/>
            </a:pPr>
            <a:r>
              <a:rPr lang="en" sz="1100">
                <a:solidFill>
                  <a:schemeClr val="dk1"/>
                </a:solidFill>
              </a:rPr>
              <a:t> </a:t>
            </a:r>
            <a:endParaRPr sz="1100">
              <a:solidFill>
                <a:schemeClr val="dk1"/>
              </a:solidFill>
            </a:endParaRPr>
          </a:p>
          <a:p>
            <a:pPr indent="0" lvl="0" marL="0" rtl="0" algn="l">
              <a:spcBef>
                <a:spcPts val="1200"/>
              </a:spcBef>
              <a:spcAft>
                <a:spcPts val="0"/>
              </a:spcAft>
              <a:buNone/>
            </a:pPr>
            <a:r>
              <a:t/>
            </a:r>
            <a:endParaRPr sz="2200">
              <a:solidFill>
                <a:srgbClr val="1A1A1A"/>
              </a:solidFill>
              <a:latin typeface="Inter Medium"/>
              <a:ea typeface="Inter Medium"/>
              <a:cs typeface="Inter Medium"/>
              <a:sym typeface="Inter Medium"/>
            </a:endParaRPr>
          </a:p>
        </p:txBody>
      </p:sp>
      <p:sp>
        <p:nvSpPr>
          <p:cNvPr id="120" name="Google Shape;120;p33"/>
          <p:cNvSpPr/>
          <p:nvPr/>
        </p:nvSpPr>
        <p:spPr>
          <a:xfrm>
            <a:off x="3209550" y="1291525"/>
            <a:ext cx="2808000" cy="3686400"/>
          </a:xfrm>
          <a:prstGeom prst="roundRect">
            <a:avLst>
              <a:gd fmla="val 9118" name="adj"/>
            </a:avLst>
          </a:prstGeom>
          <a:solidFill>
            <a:schemeClr val="lt1"/>
          </a:solidFill>
          <a:ln>
            <a:noFill/>
          </a:ln>
        </p:spPr>
        <p:txBody>
          <a:bodyPr anchorCtr="0" anchor="t" bIns="274300" lIns="182875" spcFirstLastPara="1" rIns="18287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rPr>
              <a:t>Expected Benefits &amp; Improvements</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900">
                <a:solidFill>
                  <a:schemeClr val="dk1"/>
                </a:solidFill>
              </a:rPr>
              <a:t>Faster Response Times:</a:t>
            </a:r>
            <a:r>
              <a:rPr lang="en" sz="900">
                <a:solidFill>
                  <a:schemeClr val="dk1"/>
                </a:solidFill>
              </a:rPr>
              <a:t> </a:t>
            </a:r>
            <a:r>
              <a:rPr i="1" lang="en" sz="900">
                <a:solidFill>
                  <a:schemeClr val="dk1"/>
                </a:solidFill>
              </a:rPr>
              <a:t>automatically generates support tickets from multichannel inputs and categorizes them.</a:t>
            </a:r>
            <a:endParaRPr sz="9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9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900">
                <a:solidFill>
                  <a:schemeClr val="dk1"/>
                </a:solidFill>
              </a:rPr>
              <a:t>Fewer Transfers &amp; Repetitions:</a:t>
            </a:r>
            <a:r>
              <a:rPr lang="en" sz="900">
                <a:solidFill>
                  <a:schemeClr val="dk1"/>
                </a:solidFill>
              </a:rPr>
              <a:t> </a:t>
            </a:r>
            <a:r>
              <a:rPr i="1" lang="en" sz="900">
                <a:solidFill>
                  <a:schemeClr val="dk1"/>
                </a:solidFill>
              </a:rPr>
              <a:t>everages AI to prioritize and route tickets intelligently based on customer intent, agent load, and SLA rules.</a:t>
            </a:r>
            <a:endParaRPr sz="9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9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900">
                <a:solidFill>
                  <a:schemeClr val="dk1"/>
                </a:solidFill>
              </a:rPr>
              <a:t>Better Customer Experience:</a:t>
            </a:r>
            <a:r>
              <a:rPr lang="en" sz="900">
                <a:solidFill>
                  <a:schemeClr val="dk1"/>
                </a:solidFill>
              </a:rPr>
              <a:t> </a:t>
            </a:r>
            <a:r>
              <a:rPr i="1" lang="en" sz="900">
                <a:solidFill>
                  <a:schemeClr val="dk1"/>
                </a:solidFill>
              </a:rPr>
              <a:t>Tone Analyzer integrates with chat platforms to monitor customer sentiment and recommend empathetic responses.</a:t>
            </a:r>
            <a:endParaRPr i="1" sz="9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i="1" sz="9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900">
                <a:solidFill>
                  <a:schemeClr val="dk1"/>
                </a:solidFill>
              </a:rPr>
              <a:t>Lower Operational Costs:</a:t>
            </a:r>
            <a:r>
              <a:rPr lang="en" sz="900">
                <a:solidFill>
                  <a:schemeClr val="dk1"/>
                </a:solidFill>
              </a:rPr>
              <a:t> </a:t>
            </a:r>
            <a:r>
              <a:rPr i="1" lang="en" sz="900">
                <a:solidFill>
                  <a:schemeClr val="dk1"/>
                </a:solidFill>
              </a:rPr>
              <a:t>Reduced human workload and manual tasks.</a:t>
            </a:r>
            <a:endParaRPr i="1" sz="900">
              <a:solidFill>
                <a:schemeClr val="dk1"/>
              </a:solidFill>
            </a:endParaRPr>
          </a:p>
          <a:p>
            <a:pPr indent="0" lvl="0" marL="0" marR="0" rtl="0" algn="l">
              <a:spcBef>
                <a:spcPts val="0"/>
              </a:spcBef>
              <a:spcAft>
                <a:spcPts val="0"/>
              </a:spcAft>
              <a:buClr>
                <a:schemeClr val="dk1"/>
              </a:buClr>
              <a:buSzPts val="1100"/>
              <a:buFont typeface="Arial"/>
              <a:buNone/>
            </a:pPr>
            <a:r>
              <a:t/>
            </a:r>
            <a:endParaRPr sz="2200">
              <a:solidFill>
                <a:srgbClr val="1A1A1A"/>
              </a:solidFill>
              <a:latin typeface="Inter Medium"/>
              <a:ea typeface="Inter Medium"/>
              <a:cs typeface="Inter Medium"/>
              <a:sym typeface="Inter Medium"/>
            </a:endParaRPr>
          </a:p>
          <a:p>
            <a:pPr indent="0" lvl="0" marL="0" marR="0" rtl="0" algn="l">
              <a:spcBef>
                <a:spcPts val="0"/>
              </a:spcBef>
              <a:spcAft>
                <a:spcPts val="0"/>
              </a:spcAft>
              <a:buNone/>
            </a:pPr>
            <a:r>
              <a:t/>
            </a:r>
            <a:endParaRPr sz="2200"/>
          </a:p>
        </p:txBody>
      </p:sp>
      <p:sp>
        <p:nvSpPr>
          <p:cNvPr id="121" name="Google Shape;121;p33"/>
          <p:cNvSpPr/>
          <p:nvPr/>
        </p:nvSpPr>
        <p:spPr>
          <a:xfrm>
            <a:off x="6190500" y="1291525"/>
            <a:ext cx="2771700" cy="3638700"/>
          </a:xfrm>
          <a:prstGeom prst="snip1Rect">
            <a:avLst>
              <a:gd fmla="val 9643" name="adj"/>
            </a:avLst>
          </a:prstGeom>
          <a:solidFill>
            <a:schemeClr val="lt1"/>
          </a:solidFill>
          <a:ln>
            <a:noFill/>
          </a:ln>
        </p:spPr>
        <p:txBody>
          <a:bodyPr anchorCtr="0" anchor="t" bIns="274300" lIns="274300" spcFirstLastPara="1" rIns="274300"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rPr>
              <a:t>Potential Risks or Limitations</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Integration Complexity</a:t>
            </a:r>
            <a:r>
              <a:rPr lang="en" sz="1000">
                <a:solidFill>
                  <a:schemeClr val="dk1"/>
                </a:solidFill>
              </a:rPr>
              <a:t>: May require IT support and system adjustments.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Model Training Time</a:t>
            </a:r>
            <a:r>
              <a:rPr lang="en" sz="1000">
                <a:solidFill>
                  <a:schemeClr val="dk1"/>
                </a:solidFill>
              </a:rPr>
              <a:t>: AI tools need initial tuning and historical data to be effective.</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Privacy Concerns</a:t>
            </a:r>
            <a:r>
              <a:rPr lang="en" sz="1000">
                <a:solidFill>
                  <a:schemeClr val="dk1"/>
                </a:solidFill>
              </a:rPr>
              <a:t>: Sentiment tracking and data analysis must comply with GDPR and data security policies.</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2200">
              <a:solidFill>
                <a:srgbClr val="1A1A1A"/>
              </a:solidFill>
              <a:latin typeface="Inter Medium"/>
              <a:ea typeface="Inter Medium"/>
              <a:cs typeface="Inter Medium"/>
              <a:sym typeface="Inter Medium"/>
            </a:endParaRPr>
          </a:p>
          <a:p>
            <a:pPr indent="0" lvl="0" marL="0" rtl="0" algn="l">
              <a:spcBef>
                <a:spcPts val="0"/>
              </a:spcBef>
              <a:spcAft>
                <a:spcPts val="0"/>
              </a:spcAft>
              <a:buNone/>
            </a:pPr>
            <a:r>
              <a:t/>
            </a:r>
            <a:endParaRPr sz="2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 name="Shape 125"/>
        <p:cNvGrpSpPr/>
        <p:nvPr/>
      </p:nvGrpSpPr>
      <p:grpSpPr>
        <a:xfrm>
          <a:off x="0" y="0"/>
          <a:ext cx="0" cy="0"/>
          <a:chOff x="0" y="0"/>
          <a:chExt cx="0" cy="0"/>
        </a:xfrm>
      </p:grpSpPr>
      <p:sp>
        <p:nvSpPr>
          <p:cNvPr id="126" name="Google Shape;126;p34"/>
          <p:cNvSpPr/>
          <p:nvPr/>
        </p:nvSpPr>
        <p:spPr>
          <a:xfrm>
            <a:off x="76200" y="95250"/>
            <a:ext cx="8991600" cy="495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2400">
              <a:solidFill>
                <a:schemeClr val="dk1"/>
              </a:solidFill>
            </a:endParaRPr>
          </a:p>
          <a:p>
            <a:pPr indent="0" lvl="0" marL="0" rtl="0" algn="l">
              <a:lnSpc>
                <a:spcPct val="115000"/>
              </a:lnSpc>
              <a:spcBef>
                <a:spcPts val="0"/>
              </a:spcBef>
              <a:spcAft>
                <a:spcPts val="0"/>
              </a:spcAft>
              <a:buNone/>
            </a:pPr>
            <a:r>
              <a:t/>
            </a:r>
            <a:endParaRPr sz="2400">
              <a:solidFill>
                <a:schemeClr val="dk1"/>
              </a:solidFill>
            </a:endParaRPr>
          </a:p>
          <a:p>
            <a:pPr indent="0" lvl="0" marL="0" rtl="0" algn="l">
              <a:lnSpc>
                <a:spcPct val="50000"/>
              </a:lnSpc>
              <a:spcBef>
                <a:spcPts val="0"/>
              </a:spcBef>
              <a:spcAft>
                <a:spcPts val="0"/>
              </a:spcAft>
              <a:buNone/>
            </a:pPr>
            <a:r>
              <a:rPr lang="en" sz="3300">
                <a:solidFill>
                  <a:schemeClr val="dk1"/>
                </a:solidFill>
              </a:rPr>
              <a:t>       Other AI Integration Opportunities:</a:t>
            </a:r>
            <a:endParaRPr sz="3300">
              <a:solidFill>
                <a:schemeClr val="dk1"/>
              </a:solidFill>
            </a:endParaRPr>
          </a:p>
          <a:p>
            <a:pPr indent="0" lvl="0" marL="0" rtl="0" algn="ctr">
              <a:lnSpc>
                <a:spcPct val="50000"/>
              </a:lnSpc>
              <a:spcBef>
                <a:spcPts val="0"/>
              </a:spcBef>
              <a:spcAft>
                <a:spcPts val="0"/>
              </a:spcAft>
              <a:buNone/>
            </a:pPr>
            <a:r>
              <a:t/>
            </a:r>
            <a:endParaRPr sz="1200">
              <a:solidFill>
                <a:schemeClr val="dk1"/>
              </a:solidFill>
            </a:endParaRPr>
          </a:p>
          <a:p>
            <a:pPr indent="0" lvl="0" marL="0" rtl="0" algn="l">
              <a:lnSpc>
                <a:spcPct val="50000"/>
              </a:lnSpc>
              <a:spcBef>
                <a:spcPts val="0"/>
              </a:spcBef>
              <a:spcAft>
                <a:spcPts val="0"/>
              </a:spcAft>
              <a:buNone/>
            </a:pPr>
            <a:r>
              <a:rPr lang="en" sz="1000">
                <a:solidFill>
                  <a:schemeClr val="dk1"/>
                </a:solidFill>
              </a:rPr>
              <a:t>                         (not listed in flowchart)</a:t>
            </a:r>
            <a:endParaRPr sz="3300">
              <a:solidFill>
                <a:schemeClr val="dk1"/>
              </a:solidFill>
            </a:endParaRPr>
          </a:p>
          <a:p>
            <a:pPr indent="0" lvl="0" marL="0" rtl="0" algn="ctr">
              <a:lnSpc>
                <a:spcPct val="115000"/>
              </a:lnSpc>
              <a:spcBef>
                <a:spcPts val="0"/>
              </a:spcBef>
              <a:spcAft>
                <a:spcPts val="0"/>
              </a:spcAft>
              <a:buNone/>
            </a:pPr>
            <a:r>
              <a:t/>
            </a:r>
            <a:endParaRPr sz="2200">
              <a:solidFill>
                <a:schemeClr val="dk1"/>
              </a:solidFill>
            </a:endParaRPr>
          </a:p>
          <a:p>
            <a:pPr indent="-311150" lvl="0" marL="1371600" rtl="0" algn="l">
              <a:lnSpc>
                <a:spcPct val="115000"/>
              </a:lnSpc>
              <a:spcBef>
                <a:spcPts val="0"/>
              </a:spcBef>
              <a:spcAft>
                <a:spcPts val="0"/>
              </a:spcAft>
              <a:buClr>
                <a:schemeClr val="dk1"/>
              </a:buClr>
              <a:buSzPts val="1300"/>
              <a:buChar char="●"/>
            </a:pPr>
            <a:r>
              <a:rPr lang="en" sz="1300">
                <a:solidFill>
                  <a:schemeClr val="dk1"/>
                </a:solidFill>
              </a:rPr>
              <a:t>Chatbot – Handles basic FAQs and collects details</a:t>
            </a:r>
            <a:endParaRPr sz="1300">
              <a:solidFill>
                <a:schemeClr val="dk1"/>
              </a:solidFill>
            </a:endParaRPr>
          </a:p>
          <a:p>
            <a:pPr indent="-311150" lvl="0" marL="1371600" rtl="0" algn="l">
              <a:lnSpc>
                <a:spcPct val="115000"/>
              </a:lnSpc>
              <a:spcBef>
                <a:spcPts val="0"/>
              </a:spcBef>
              <a:spcAft>
                <a:spcPts val="0"/>
              </a:spcAft>
              <a:buClr>
                <a:schemeClr val="dk1"/>
              </a:buClr>
              <a:buSzPts val="1300"/>
              <a:buChar char="●"/>
            </a:pPr>
            <a:r>
              <a:rPr lang="en" sz="1300">
                <a:solidFill>
                  <a:schemeClr val="dk1"/>
                </a:solidFill>
              </a:rPr>
              <a:t>Ticket Triage – Tags and routes to best agent</a:t>
            </a:r>
            <a:endParaRPr sz="1300">
              <a:solidFill>
                <a:schemeClr val="dk1"/>
              </a:solidFill>
            </a:endParaRPr>
          </a:p>
          <a:p>
            <a:pPr indent="-311150" lvl="0" marL="1371600" rtl="0" algn="l">
              <a:lnSpc>
                <a:spcPct val="115000"/>
              </a:lnSpc>
              <a:spcBef>
                <a:spcPts val="0"/>
              </a:spcBef>
              <a:spcAft>
                <a:spcPts val="0"/>
              </a:spcAft>
              <a:buClr>
                <a:schemeClr val="dk1"/>
              </a:buClr>
              <a:buSzPts val="1300"/>
              <a:buChar char="●"/>
            </a:pPr>
            <a:r>
              <a:rPr lang="en" sz="1300">
                <a:solidFill>
                  <a:schemeClr val="dk1"/>
                </a:solidFill>
              </a:rPr>
              <a:t>Auto-Acknowledgment – Confirms receipt instantly</a:t>
            </a:r>
            <a:endParaRPr sz="1300">
              <a:solidFill>
                <a:schemeClr val="dk1"/>
              </a:solidFill>
            </a:endParaRPr>
          </a:p>
          <a:p>
            <a:pPr indent="-311150" lvl="0" marL="1371600" rtl="0" algn="l">
              <a:lnSpc>
                <a:spcPct val="115000"/>
              </a:lnSpc>
              <a:spcBef>
                <a:spcPts val="0"/>
              </a:spcBef>
              <a:spcAft>
                <a:spcPts val="0"/>
              </a:spcAft>
              <a:buClr>
                <a:schemeClr val="dk1"/>
              </a:buClr>
              <a:buSzPts val="1300"/>
              <a:buChar char="●"/>
            </a:pPr>
            <a:r>
              <a:rPr lang="en" sz="1300">
                <a:solidFill>
                  <a:schemeClr val="dk1"/>
                </a:solidFill>
              </a:rPr>
              <a:t>Agent Copilot – Suggests responses in real time</a:t>
            </a:r>
            <a:endParaRPr sz="1300">
              <a:solidFill>
                <a:schemeClr val="dk1"/>
              </a:solidFill>
            </a:endParaRPr>
          </a:p>
          <a:p>
            <a:pPr indent="-311150" lvl="0" marL="1371600" rtl="0" algn="l">
              <a:lnSpc>
                <a:spcPct val="115000"/>
              </a:lnSpc>
              <a:spcBef>
                <a:spcPts val="0"/>
              </a:spcBef>
              <a:spcAft>
                <a:spcPts val="0"/>
              </a:spcAft>
              <a:buClr>
                <a:schemeClr val="dk1"/>
              </a:buClr>
              <a:buSzPts val="1300"/>
              <a:buChar char="●"/>
            </a:pPr>
            <a:r>
              <a:rPr lang="en" sz="1300">
                <a:solidFill>
                  <a:schemeClr val="dk1"/>
                </a:solidFill>
              </a:rPr>
              <a:t>Workflow Bot – Coordinates inter-team actions</a:t>
            </a:r>
            <a:endParaRPr sz="1300">
              <a:solidFill>
                <a:schemeClr val="dk1"/>
              </a:solidFill>
            </a:endParaRPr>
          </a:p>
          <a:p>
            <a:pPr indent="-311150" lvl="0" marL="1371600" rtl="0" algn="l">
              <a:lnSpc>
                <a:spcPct val="115000"/>
              </a:lnSpc>
              <a:spcBef>
                <a:spcPts val="0"/>
              </a:spcBef>
              <a:spcAft>
                <a:spcPts val="0"/>
              </a:spcAft>
              <a:buClr>
                <a:schemeClr val="dk1"/>
              </a:buClr>
              <a:buSzPts val="1300"/>
              <a:buChar char="●"/>
            </a:pPr>
            <a:r>
              <a:rPr lang="en" sz="1300">
                <a:solidFill>
                  <a:schemeClr val="dk1"/>
                </a:solidFill>
              </a:rPr>
              <a:t>Escalation Logic – Based on sentiment or SLA</a:t>
            </a:r>
            <a:endParaRPr sz="1300">
              <a:solidFill>
                <a:schemeClr val="dk1"/>
              </a:solidFill>
            </a:endParaRPr>
          </a:p>
          <a:p>
            <a:pPr indent="-311150" lvl="0" marL="1371600" rtl="0" algn="l">
              <a:lnSpc>
                <a:spcPct val="115000"/>
              </a:lnSpc>
              <a:spcBef>
                <a:spcPts val="0"/>
              </a:spcBef>
              <a:spcAft>
                <a:spcPts val="0"/>
              </a:spcAft>
              <a:buClr>
                <a:schemeClr val="dk1"/>
              </a:buClr>
              <a:buSzPts val="1300"/>
              <a:buChar char="●"/>
            </a:pPr>
            <a:r>
              <a:rPr lang="en" sz="1300">
                <a:solidFill>
                  <a:schemeClr val="dk1"/>
                </a:solidFill>
              </a:rPr>
              <a:t>Follow-Up Bot – Sends updates to customers</a:t>
            </a:r>
            <a:endParaRPr sz="1300">
              <a:solidFill>
                <a:schemeClr val="dk1"/>
              </a:solidFill>
            </a:endParaRPr>
          </a:p>
          <a:p>
            <a:pPr indent="-311150" lvl="0" marL="1371600" rtl="0" algn="l">
              <a:lnSpc>
                <a:spcPct val="115000"/>
              </a:lnSpc>
              <a:spcBef>
                <a:spcPts val="0"/>
              </a:spcBef>
              <a:spcAft>
                <a:spcPts val="0"/>
              </a:spcAft>
              <a:buClr>
                <a:schemeClr val="dk1"/>
              </a:buClr>
              <a:buSzPts val="1300"/>
              <a:buChar char="●"/>
            </a:pPr>
            <a:r>
              <a:rPr lang="en" sz="1300">
                <a:solidFill>
                  <a:schemeClr val="dk1"/>
                </a:solidFill>
              </a:rPr>
              <a:t>Sentiment Analysis – Flags dissatisfaction early</a:t>
            </a:r>
            <a:endParaRPr sz="13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spcBef>
                <a:spcPts val="1200"/>
              </a:spcBef>
              <a:spcAft>
                <a:spcPts val="0"/>
              </a:spcAft>
              <a:buNone/>
            </a:pPr>
            <a:r>
              <a:t/>
            </a:r>
            <a:endParaRPr sz="1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sp>
        <p:nvSpPr>
          <p:cNvPr id="131" name="Google Shape;131;p35"/>
          <p:cNvSpPr/>
          <p:nvPr/>
        </p:nvSpPr>
        <p:spPr>
          <a:xfrm>
            <a:off x="76200" y="95250"/>
            <a:ext cx="8991600" cy="495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914400" rtl="0" algn="l">
              <a:lnSpc>
                <a:spcPct val="115000"/>
              </a:lnSpc>
              <a:spcBef>
                <a:spcPts val="1200"/>
              </a:spcBef>
              <a:spcAft>
                <a:spcPts val="0"/>
              </a:spcAft>
              <a:buNone/>
            </a:pPr>
            <a:r>
              <a:rPr lang="en" sz="2000">
                <a:solidFill>
                  <a:schemeClr val="dk1"/>
                </a:solidFill>
              </a:rPr>
              <a:t>AI needs people to monitor output and adjust parameters as needed so the best </a:t>
            </a:r>
            <a:r>
              <a:rPr lang="en" sz="2000">
                <a:solidFill>
                  <a:schemeClr val="dk1"/>
                </a:solidFill>
              </a:rPr>
              <a:t>approach</a:t>
            </a:r>
            <a:r>
              <a:rPr lang="en" sz="2000">
                <a:solidFill>
                  <a:schemeClr val="dk1"/>
                </a:solidFill>
              </a:rPr>
              <a:t> is to a</a:t>
            </a:r>
            <a:r>
              <a:rPr lang="en" sz="2000">
                <a:solidFill>
                  <a:schemeClr val="dk1"/>
                </a:solidFill>
              </a:rPr>
              <a:t>dopt a </a:t>
            </a:r>
            <a:r>
              <a:rPr b="1" i="1" lang="en" sz="2000" u="sng">
                <a:solidFill>
                  <a:schemeClr val="dk1"/>
                </a:solidFill>
              </a:rPr>
              <a:t>hybrid</a:t>
            </a:r>
            <a:r>
              <a:rPr lang="en" sz="2000">
                <a:solidFill>
                  <a:schemeClr val="dk1"/>
                </a:solidFill>
              </a:rPr>
              <a:t> support model:</a:t>
            </a:r>
            <a:endParaRPr sz="2000">
              <a:solidFill>
                <a:schemeClr val="dk1"/>
              </a:solidFill>
            </a:endParaRPr>
          </a:p>
          <a:p>
            <a:pPr indent="-355600" lvl="0" marL="1371600" rtl="0" algn="l">
              <a:lnSpc>
                <a:spcPct val="115000"/>
              </a:lnSpc>
              <a:spcBef>
                <a:spcPts val="1800"/>
              </a:spcBef>
              <a:spcAft>
                <a:spcPts val="0"/>
              </a:spcAft>
              <a:buClr>
                <a:schemeClr val="dk1"/>
              </a:buClr>
              <a:buSzPts val="2000"/>
              <a:buChar char="●"/>
            </a:pPr>
            <a:r>
              <a:rPr lang="en" sz="2000">
                <a:solidFill>
                  <a:schemeClr val="dk1"/>
                </a:solidFill>
              </a:rPr>
              <a:t>Automate repetitive tasks using AI tools</a:t>
            </a:r>
            <a:endParaRPr sz="2000">
              <a:solidFill>
                <a:schemeClr val="dk1"/>
              </a:solidFill>
            </a:endParaRPr>
          </a:p>
          <a:p>
            <a:pPr indent="-355600" lvl="0" marL="1371600" rtl="0" algn="l">
              <a:lnSpc>
                <a:spcPct val="115000"/>
              </a:lnSpc>
              <a:spcBef>
                <a:spcPts val="0"/>
              </a:spcBef>
              <a:spcAft>
                <a:spcPts val="0"/>
              </a:spcAft>
              <a:buClr>
                <a:schemeClr val="dk1"/>
              </a:buClr>
              <a:buSzPts val="2000"/>
              <a:buChar char="●"/>
            </a:pPr>
            <a:r>
              <a:rPr lang="en" sz="2000">
                <a:solidFill>
                  <a:schemeClr val="dk1"/>
                </a:solidFill>
              </a:rPr>
              <a:t>Let humans handle complex empathy-driven interactions</a:t>
            </a:r>
            <a:endParaRPr sz="2000">
              <a:solidFill>
                <a:schemeClr val="dk1"/>
              </a:solidFill>
            </a:endParaRPr>
          </a:p>
          <a:p>
            <a:pPr indent="-355600" lvl="0" marL="1371600" rtl="0" algn="l">
              <a:lnSpc>
                <a:spcPct val="115000"/>
              </a:lnSpc>
              <a:spcBef>
                <a:spcPts val="0"/>
              </a:spcBef>
              <a:spcAft>
                <a:spcPts val="0"/>
              </a:spcAft>
              <a:buClr>
                <a:schemeClr val="dk1"/>
              </a:buClr>
              <a:buSzPts val="2000"/>
              <a:buChar char="●"/>
            </a:pPr>
            <a:r>
              <a:rPr lang="en" sz="2000">
                <a:solidFill>
                  <a:schemeClr val="dk1"/>
                </a:solidFill>
              </a:rPr>
              <a:t>Use AI to enhance speed, consistency, and efficiency</a:t>
            </a:r>
            <a:endParaRPr sz="2000">
              <a:solidFill>
                <a:schemeClr val="dk1"/>
              </a:solidFill>
            </a:endParaRPr>
          </a:p>
          <a:p>
            <a:pPr indent="-355600" lvl="0" marL="1371600" rtl="0" algn="l">
              <a:lnSpc>
                <a:spcPct val="115000"/>
              </a:lnSpc>
              <a:spcBef>
                <a:spcPts val="0"/>
              </a:spcBef>
              <a:spcAft>
                <a:spcPts val="0"/>
              </a:spcAft>
              <a:buClr>
                <a:schemeClr val="dk1"/>
              </a:buClr>
              <a:buSzPts val="2000"/>
              <a:buChar char="●"/>
            </a:pPr>
            <a:r>
              <a:rPr lang="en" sz="2000">
                <a:solidFill>
                  <a:schemeClr val="dk1"/>
                </a:solidFill>
              </a:rPr>
              <a:t>Ensure oversight and continuous learning to maintain quality</a:t>
            </a:r>
            <a:endParaRPr sz="2000">
              <a:solidFill>
                <a:schemeClr val="dk1"/>
              </a:solidFill>
            </a:endParaRPr>
          </a:p>
          <a:p>
            <a:pPr indent="0" lvl="0" marL="0" rtl="0" algn="l">
              <a:spcBef>
                <a:spcPts val="1200"/>
              </a:spcBef>
              <a:spcAft>
                <a:spcPts val="0"/>
              </a:spcAft>
              <a:buNone/>
            </a:pPr>
            <a:r>
              <a:t/>
            </a:r>
            <a:endParaRPr sz="1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 name="Shape 135"/>
        <p:cNvGrpSpPr/>
        <p:nvPr/>
      </p:nvGrpSpPr>
      <p:grpSpPr>
        <a:xfrm>
          <a:off x="0" y="0"/>
          <a:ext cx="0" cy="0"/>
          <a:chOff x="0" y="0"/>
          <a:chExt cx="0" cy="0"/>
        </a:xfrm>
      </p:grpSpPr>
      <p:sp>
        <p:nvSpPr>
          <p:cNvPr id="136" name="Google Shape;136;p36"/>
          <p:cNvSpPr txBox="1"/>
          <p:nvPr>
            <p:ph type="ctrTitle"/>
          </p:nvPr>
        </p:nvSpPr>
        <p:spPr>
          <a:xfrm>
            <a:off x="247175" y="4249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Updated Workflow with AI</a:t>
            </a:r>
            <a:endParaRPr sz="4000">
              <a:solidFill>
                <a:srgbClr val="1A1A1A"/>
              </a:solidFill>
              <a:latin typeface="Inter ExtraBold"/>
              <a:ea typeface="Inter ExtraBold"/>
              <a:cs typeface="Inter ExtraBold"/>
              <a:sym typeface="Inter ExtraBold"/>
            </a:endParaRPr>
          </a:p>
        </p:txBody>
      </p:sp>
      <p:sp>
        <p:nvSpPr>
          <p:cNvPr id="137" name="Google Shape;137;p36"/>
          <p:cNvSpPr/>
          <p:nvPr/>
        </p:nvSpPr>
        <p:spPr>
          <a:xfrm>
            <a:off x="3719025" y="2243350"/>
            <a:ext cx="3531300" cy="261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Steps 2, 3, 4, 5, and 7 are now AI-powered using tools like </a:t>
            </a:r>
            <a:r>
              <a:rPr b="1" lang="en" sz="1100">
                <a:solidFill>
                  <a:schemeClr val="dk1"/>
                </a:solidFill>
              </a:rPr>
              <a:t>Zendesk AI </a:t>
            </a:r>
            <a:r>
              <a:rPr lang="en" sz="1100">
                <a:solidFill>
                  <a:schemeClr val="dk1"/>
                </a:solidFill>
              </a:rPr>
              <a:t>and </a:t>
            </a:r>
            <a:r>
              <a:rPr b="1" lang="en" sz="1100">
                <a:solidFill>
                  <a:schemeClr val="dk1"/>
                </a:solidFill>
              </a:rPr>
              <a:t>Freshdesk Freddy</a:t>
            </a:r>
            <a:r>
              <a:rPr lang="en" sz="1100">
                <a:solidFill>
                  <a:schemeClr val="dk1"/>
                </a:solidFill>
              </a:rPr>
              <a:t>, with human oversight to ensure performance.</a:t>
            </a:r>
            <a:endParaRPr sz="1100">
              <a:solidFill>
                <a:schemeClr val="dk1"/>
              </a:solidFill>
            </a:endParaRPr>
          </a:p>
          <a:p>
            <a:pPr indent="0" lvl="0" marL="457200" rtl="0" algn="l">
              <a:lnSpc>
                <a:spcPct val="115000"/>
              </a:lnSpc>
              <a:spcBef>
                <a:spcPts val="0"/>
              </a:spcBef>
              <a:spcAft>
                <a:spcPts val="0"/>
              </a:spcAft>
              <a:buNone/>
            </a:pPr>
            <a:r>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AI tools are integrated for auto-ticketing, routing, sentiment analysis, and survey automation.</a:t>
            </a:r>
            <a:endParaRPr sz="1100">
              <a:solidFill>
                <a:schemeClr val="dk1"/>
              </a:solidFill>
            </a:endParaRPr>
          </a:p>
          <a:p>
            <a:pPr indent="0" lvl="0" marL="457200" rtl="0" algn="l">
              <a:lnSpc>
                <a:spcPct val="115000"/>
              </a:lnSpc>
              <a:spcBef>
                <a:spcPts val="0"/>
              </a:spcBef>
              <a:spcAft>
                <a:spcPts val="0"/>
              </a:spcAft>
              <a:buNone/>
            </a:pPr>
            <a:r>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AI reduces manual workload and speeds up service, but still requires human monitoring.</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ctr">
              <a:spcBef>
                <a:spcPts val="0"/>
              </a:spcBef>
              <a:spcAft>
                <a:spcPts val="0"/>
              </a:spcAft>
              <a:buNone/>
            </a:pPr>
            <a:r>
              <a:t/>
            </a:r>
            <a:endParaRPr/>
          </a:p>
        </p:txBody>
      </p:sp>
      <p:sp>
        <p:nvSpPr>
          <p:cNvPr id="138" name="Google Shape;138;p36"/>
          <p:cNvSpPr/>
          <p:nvPr/>
        </p:nvSpPr>
        <p:spPr>
          <a:xfrm>
            <a:off x="3505750" y="1561000"/>
            <a:ext cx="4196700" cy="588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rPr i="1" lang="en" sz="1100">
                <a:solidFill>
                  <a:schemeClr val="dk1"/>
                </a:solidFill>
              </a:rPr>
              <a:t>By automating routine tasks and intelligently routing issues, AI reduces operational overhead while drastically speeding up resolution times, delivering faster service at a lower cost.</a:t>
            </a:r>
            <a:endParaRPr/>
          </a:p>
        </p:txBody>
      </p:sp>
      <p:pic>
        <p:nvPicPr>
          <p:cNvPr id="139" name="Google Shape;139;p36"/>
          <p:cNvPicPr preferRelativeResize="0"/>
          <p:nvPr/>
        </p:nvPicPr>
        <p:blipFill>
          <a:blip r:embed="rId3">
            <a:alphaModFix/>
          </a:blip>
          <a:stretch>
            <a:fillRect/>
          </a:stretch>
        </p:blipFill>
        <p:spPr>
          <a:xfrm>
            <a:off x="1273700" y="1431575"/>
            <a:ext cx="1772100" cy="3118824"/>
          </a:xfrm>
          <a:prstGeom prst="rect">
            <a:avLst/>
          </a:prstGeom>
          <a:noFill/>
          <a:ln>
            <a:noFill/>
          </a:ln>
        </p:spPr>
      </p:pic>
      <p:cxnSp>
        <p:nvCxnSpPr>
          <p:cNvPr id="140" name="Google Shape;140;p36"/>
          <p:cNvCxnSpPr/>
          <p:nvPr/>
        </p:nvCxnSpPr>
        <p:spPr>
          <a:xfrm>
            <a:off x="8268250" y="3779775"/>
            <a:ext cx="1030800" cy="10308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44" name="Shape 144"/>
        <p:cNvGrpSpPr/>
        <p:nvPr/>
      </p:nvGrpSpPr>
      <p:grpSpPr>
        <a:xfrm>
          <a:off x="0" y="0"/>
          <a:ext cx="0" cy="0"/>
          <a:chOff x="0" y="0"/>
          <a:chExt cx="0" cy="0"/>
        </a:xfrm>
      </p:grpSpPr>
      <p:pic>
        <p:nvPicPr>
          <p:cNvPr id="145" name="Google Shape;145;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6" name="Google Shape;146;p37"/>
          <p:cNvSpPr txBox="1"/>
          <p:nvPr>
            <p:ph type="ctrTitle"/>
          </p:nvPr>
        </p:nvSpPr>
        <p:spPr>
          <a:xfrm>
            <a:off x="515675" y="897450"/>
            <a:ext cx="85206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solidFill>
                  <a:srgbClr val="1A1A1A"/>
                </a:solidFill>
                <a:latin typeface="Inter ExtraBold"/>
                <a:ea typeface="Inter ExtraBold"/>
                <a:cs typeface="Inter ExtraBold"/>
                <a:sym typeface="Inter ExtraBold"/>
              </a:rPr>
              <a:t>Conclusion</a:t>
            </a:r>
            <a:endParaRPr sz="3400">
              <a:solidFill>
                <a:srgbClr val="1A1A1A"/>
              </a:solidFill>
              <a:latin typeface="Inter ExtraBold"/>
              <a:ea typeface="Inter ExtraBold"/>
              <a:cs typeface="Inter ExtraBold"/>
              <a:sym typeface="Inter ExtraBold"/>
            </a:endParaRPr>
          </a:p>
        </p:txBody>
      </p:sp>
      <p:sp>
        <p:nvSpPr>
          <p:cNvPr id="147" name="Google Shape;147;p37"/>
          <p:cNvSpPr txBox="1"/>
          <p:nvPr>
            <p:ph idx="1" type="subTitle"/>
          </p:nvPr>
        </p:nvSpPr>
        <p:spPr>
          <a:xfrm>
            <a:off x="612075" y="1717275"/>
            <a:ext cx="7602600" cy="26166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t/>
            </a:r>
            <a:endParaRPr b="1" sz="1200">
              <a:solidFill>
                <a:schemeClr val="dk1"/>
              </a:solidFill>
            </a:endParaRPr>
          </a:p>
          <a:p>
            <a:pPr indent="0" lvl="0" marL="0" rtl="0" algn="l">
              <a:lnSpc>
                <a:spcPct val="150000"/>
              </a:lnSpc>
              <a:spcBef>
                <a:spcPts val="1200"/>
              </a:spcBef>
              <a:spcAft>
                <a:spcPts val="0"/>
              </a:spcAft>
              <a:buClr>
                <a:schemeClr val="dk1"/>
              </a:buClr>
              <a:buSzPts val="1100"/>
              <a:buFont typeface="Arial"/>
              <a:buNone/>
            </a:pPr>
            <a:r>
              <a:rPr lang="en" sz="1100">
                <a:solidFill>
                  <a:schemeClr val="dk1"/>
                </a:solidFill>
              </a:rPr>
              <a:t>Integrating AI into the customer support workflow isn't about replacing people. It’s about enhancing how people work. By automating repetitive tasks like ticket logging, routing, and status updates, AI frees up human agents to focus on what they do best: solving complex problems with empathy and creativity.</a:t>
            </a:r>
            <a:endParaRPr sz="1100">
              <a:solidFill>
                <a:schemeClr val="dk1"/>
              </a:solidFill>
            </a:endParaRPr>
          </a:p>
          <a:p>
            <a:pPr indent="0" lvl="0" marL="0" rtl="0" algn="l">
              <a:lnSpc>
                <a:spcPct val="150000"/>
              </a:lnSpc>
              <a:spcBef>
                <a:spcPts val="1200"/>
              </a:spcBef>
              <a:spcAft>
                <a:spcPts val="0"/>
              </a:spcAft>
              <a:buClr>
                <a:schemeClr val="dk1"/>
              </a:buClr>
              <a:buSzPts val="1100"/>
              <a:buFont typeface="Arial"/>
              <a:buNone/>
            </a:pPr>
            <a:r>
              <a:rPr lang="en" sz="1100">
                <a:solidFill>
                  <a:schemeClr val="dk1"/>
                </a:solidFill>
              </a:rPr>
              <a:t>This updated workflow demonstrates how a hybrid approach improves speed, consistency, and customer satisfaction. Moving forward, organizations can continue to evolve by training AI on real feedback, expanding chatbot capabilities, and aligning automation with human-centered design.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1200"/>
              </a:spcBef>
              <a:spcAft>
                <a:spcPts val="0"/>
              </a:spcAft>
              <a:buNone/>
            </a:pPr>
            <a:r>
              <a:t/>
            </a:r>
            <a:endParaRPr sz="2000">
              <a:solidFill>
                <a:srgbClr val="1A1A1A"/>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